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CCCC"/>
    <a:srgbClr val="CB1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ros2canの使い方講習。前半はGUIで実機なしで触ってみて、後半で自作ノードからの操作と応用機能を扱う。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全体の流れ。右側のゴールを最初に共有しておく。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serial_bridgeの後継。一言でいうと『CANでマイコンを数珠つなぎにして、GUIで操作できるserial_bridge』。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PCと繋がるのはCANホスト1台だけ。ホスト自身もノード1として自分のI/Oを処理する点に注意。バスの両端には終端抵抗。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ros2can用に新規設計した小型基板。1枚が1ノード。MULTIピンとENC/MDピンは用途を切り替えて使う（ピン共有）。基板写真はkicad-wsリポジトリを参照。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同じファームウェア xiao-esp32-s3_can2io をMODE切り替えで使い回す。ロボマス・CubeMarsはホスト配下のノードではなく、独立デバイスとして動く。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dialoutグループへの追加は初回のみ。反映には再ログインが必要。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番号の位置を指しながら説明。ダイレクト送信は既定OFFで、チェックを入れるまで何も送られない。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実際に全員でやってみるパート。IDは1で良い。Monitorタブでスイッチを手でONにできることを見せる。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普段はControlとMonitor。プロファイルが怪しいときはRaw、通信トラブルはInfo。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ここは必ず強調。迷ったらE-STOP。外部ノードで動かす場合は、ノード終了時のゼロ指令を自分で書く。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serial_bridgeと同じ名前と型。_unwrappedと_zeroedはros2canの追加機能。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24スロットを4ノード×5スロットに分けている。index = node×5 + local。自分で数えなくて良いようにRos2CanPacketControllerがある。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ros2can_example/servo_sweep_example.cpp を簡略化したもの。やることはpublisher・タイマー・subscriberの3つだけ。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--onceを付け忘れると送り続けるので注意。ダイレクト送信ONのデバイスは外部ノードの指令を無視する。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MITモードはKp/Kdを毎周期変えられる柔らかい位置制御。小さいKpから。角度には通信プロトコル由来の上限がある。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M3508/M2006/GM6020のうち1機種を最大4台。MITモードはマイコン側で位置PDを計算して電流指令にしている点がCubeMarsと違う。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テンプレート自体は書き換えず、generated_firmware/&lt;名前&gt;/ にコピーしてconfig.hppだけ書き換える。書き込みはpio run -t upload。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マニュアルは全機能網羅、クイックスタートは要点のみ。困ったらまずマニュアル。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C1D247-16EB-E18B-C91A-8A8A84F6D4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C8EF692-2EE0-D6DB-389A-4FAA9D4862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D6C587-6DD3-05DA-A204-53DD8E8E7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49"/>
            <a:ext cx="2743200" cy="365125"/>
          </a:xfrm>
        </p:spPr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B002EB-904F-4CEA-CADF-F5E0DBBF5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9ECFC0B-B0DD-4523-1EC9-F025D88B6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3371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579AEF-4E7C-ED37-5EA9-1DC7E3D21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56F3ABD-CDE6-6E00-BF9B-047B6ADF8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A7254F-760E-45C2-78EE-E70E77248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6AF2616-0E36-4F53-CD06-93FE0880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B18C036-B90B-0F85-89BA-54CE64AD3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4223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F4AA507-2FB7-546F-814C-4A1C74208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315DA0E-F142-2BBE-190D-5255C2C0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3FF7DFE-2476-1E59-69D7-D1F19205C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BC7B36-421F-73C6-5463-76E9A6AE0B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AA2A7CA-E3EA-4404-081A-07B89424A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91837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697F30-45AF-25E6-5A3E-A95AF98C5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09211B7-F7CF-5A06-F8F9-55E3DB08C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456EB9B-828C-218C-A915-6A838FAAB1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45FEE2-C1CB-8EA0-9002-B1432AC24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6FEAD8C-6EE1-F9BF-F92B-098BD3D07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3AD94AE-954A-F497-265E-4C308A2A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968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767EE21-8A4D-D745-1D42-74EDFF800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2CC70AB-A5A4-49B2-3BC9-787B8169D2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D97D4A6-122F-9D1B-69FA-F706C97FEA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1DE0982-B4F7-ECFA-591F-89FBF89F2E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51921522-38F1-F7FC-C0A3-F651903F6A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2A203241-B954-1126-5A3E-09DD27155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86CD0B2-EAFE-2BF4-C497-5B6F2B5771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DA945BC-759C-C4C1-4978-CBC8862E6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6343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2E4BB3F-9DED-D314-7704-823494893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D956715-9D1B-B43F-6FBC-907C3E215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0FD98C2-7913-13BB-5ADF-0A00AB8ED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7AB633EA-620C-6DDB-54AC-5F1C605A3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4911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C766E37-50FF-E806-6613-642EA7444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98C42828-EA14-7DEC-6FA0-ACE7895DC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01C4B-73D8-99C1-DA02-F319131D2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01435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52B953-8868-5B19-2C35-E170A9A3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3B70D0-DD11-06D8-4E15-3A804C0EA7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F812A24-C52D-93A7-9016-A886424D9B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150BFA1-13D9-0A9E-3782-76ADE44FF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D0D9597-7E26-83EC-AF24-DE5863E5B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4F15F0-074E-4473-6585-90FC09057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33491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373A893-FB27-B4F3-2D9E-E3B1BDBF8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F4EC2060-304A-FAC1-1875-E7246B58C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ja-JP" altLang="en-US"/>
              <a:t>アイコンをクリックして図を追加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DE32873-C8F0-0F20-9ED9-168FC1864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A5B8F9E-0905-4D85-CE31-E6CB934FD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86A1FDE-71DE-89E8-B95B-94D894A3B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07CFA1B-DB81-8991-B1D7-6E4355B09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1708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148A88-8E9A-49C0-3075-4B7A4DE1A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AABDF43-9207-EAE8-45CF-032DCADF90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B040A2E-6D30-9407-937D-1DB8B873D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C139FB1-4A28-280A-EF0B-9DEC926D6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960C17-2AEA-C4A0-E757-303AAA20C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236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C024A0FD-2210-A691-13DA-677F881B06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04C7A7B-C4E0-DD68-3327-74DA3771A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17944CB-241F-41DA-FB61-E7FDB65E7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A52921-D26E-F9F9-F0FC-9FD443FFE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88D856-F717-F6DC-E313-BC536B8EDD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0775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17BB161A-6234-7C02-059C-D3AE676F6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0C9F829-8192-70DC-85DA-8E1C49AEF3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BD9A6A1-72EC-FA32-C0A2-77E8F0AE27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DD9765-A962-4B23-896F-5056B17951A2}" type="datetimeFigureOut">
              <a:rPr kumimoji="1" lang="ja-JP" altLang="en-US" smtClean="0"/>
              <a:t>2024/3/20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47519F0-6940-8B04-61AE-FB7C31E711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B4CD484-8D28-77F7-F415-29C4934FF9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C8AF4E-7394-43D6-B3DC-54EB52394C8F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pic>
        <p:nvPicPr>
          <p:cNvPr id="8" name="図 7" descr="黒い背景に白い文字がある&#10;&#10;中程度の精度で自動的に生成された説明">
            <a:extLst>
              <a:ext uri="{FF2B5EF4-FFF2-40B4-BE49-F238E27FC236}">
                <a16:creationId xmlns:a16="http://schemas.microsoft.com/office/drawing/2014/main" id="{FF906BC4-088A-CAD4-0688-FDCCD3E37DB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3" y="136525"/>
            <a:ext cx="2659338" cy="744399"/>
          </a:xfrm>
          <a:prstGeom prst="rect">
            <a:avLst/>
          </a:prstGeom>
        </p:spPr>
      </p:pic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5FDC60E9-6C06-B33B-180C-F0204CBC0AA1}"/>
              </a:ext>
            </a:extLst>
          </p:cNvPr>
          <p:cNvSpPr/>
          <p:nvPr userDrawn="1"/>
        </p:nvSpPr>
        <p:spPr>
          <a:xfrm rot="16745820">
            <a:off x="5751924" y="5728795"/>
            <a:ext cx="12496267" cy="14364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F74BAA90-B259-5D7B-725A-60C1DC270EBE}"/>
              </a:ext>
            </a:extLst>
          </p:cNvPr>
          <p:cNvSpPr/>
          <p:nvPr userDrawn="1"/>
        </p:nvSpPr>
        <p:spPr>
          <a:xfrm rot="21324172">
            <a:off x="535422" y="6538809"/>
            <a:ext cx="12496267" cy="1053548"/>
          </a:xfrm>
          <a:prstGeom prst="rect">
            <a:avLst/>
          </a:prstGeom>
          <a:solidFill>
            <a:srgbClr val="CB1C14">
              <a:alpha val="8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平行四辺形 12">
            <a:extLst>
              <a:ext uri="{FF2B5EF4-FFF2-40B4-BE49-F238E27FC236}">
                <a16:creationId xmlns:a16="http://schemas.microsoft.com/office/drawing/2014/main" id="{B456FFD5-F931-135A-2222-1028B9A03666}"/>
              </a:ext>
            </a:extLst>
          </p:cNvPr>
          <p:cNvSpPr/>
          <p:nvPr userDrawn="1"/>
        </p:nvSpPr>
        <p:spPr>
          <a:xfrm rot="21289408">
            <a:off x="11089814" y="6116811"/>
            <a:ext cx="1757764" cy="1078055"/>
          </a:xfrm>
          <a:prstGeom prst="parallelogram">
            <a:avLst>
              <a:gd name="adj" fmla="val 25946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492634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1554480"/>
            <a:ext cx="9326880" cy="1737360"/>
          </a:xfrm>
        </p:spPr>
        <p:txBody>
          <a:bodyPr anchor="b"/>
          <a:lstStyle/>
          <a:p>
            <a:pPr algn="l">
              <a:spcAft>
                <a:spcPts val="400"/>
              </a:spcAft>
            </a:pPr>
            <a:r>
              <a:rPr sz="4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 講習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2960" y="3429000"/>
            <a:ext cx="9326880" cy="1463040"/>
          </a:xfrm>
        </p:spPr>
        <p:txBody>
          <a:bodyPr anchor="t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CANバス対応 ROS 2 ⇔ マイコン通信パッケージ</a:t>
            </a:r>
          </a:p>
          <a:p>
            <a:pPr algn="l">
              <a:spcAft>
                <a:spcPts val="600"/>
              </a:spcAft>
            </a:pPr>
            <a:r>
              <a:rPr sz="16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立命館大学 ロボット技術研究会 RRST NHKプロジェクト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310128"/>
            <a:ext cx="1097280" cy="64008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本日の内容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2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554480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81328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ros2canとは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1892807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何ができるのか・システム構成・専用基板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2578608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505456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GUIを使ってみる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2916936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インストール、実機なしでの操作、安全機能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02736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3529584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自作ノードから動かす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941064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トピック、スロット割当、サンプルコード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4626864"/>
            <a:ext cx="566928" cy="56692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553712"/>
            <a:ext cx="475488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2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4965192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CubeMars AK・DJIロボマス・ファームウェア生成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554480"/>
            <a:ext cx="4023360" cy="39319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1737360"/>
            <a:ext cx="356616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講習後にできること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31720"/>
            <a:ext cx="3566160" cy="3017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実機なしでGUIを操作し、指令とセンサ値の流れを説明できる</a:t>
            </a:r>
          </a:p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自作ROS 2ノードからサーボを動かし、センサ値を読める</a:t>
            </a:r>
          </a:p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自分の基板用のファームウェアを生成・書き込みできる</a:t>
            </a:r>
          </a:p>
          <a:p>
            <a:pPr algn="l" marL="201168" indent="-201168">
              <a:spcAft>
                <a:spcPts val="1200"/>
              </a:spcAft>
              <a:buClr>
                <a:srgbClr val="CB1C14"/>
              </a:buClr>
              <a:buFont typeface="Arial"/>
              <a:buChar char="•"/>
            </a:pPr>
            <a:r>
              <a:rPr sz="15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安全な止め方（E-STOP・ゼロ指令）を知っている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ros2canとは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何ができるのか・どう繋がっているのか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ros2canとは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05840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</a:t>
            </a:r>
            <a:r>
              <a:rPr sz="17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をベースに開発した後継パッケージ。CANバスでマイコンを</a:t>
            </a:r>
            <a:r>
              <a:rPr sz="17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デイジーチェーン接続</a:t>
            </a:r>
            <a:r>
              <a:rPr sz="17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し、PyQt5のGUIから直接操作できます。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244144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0487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CANデイジーチェーン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PCとはUSB1本。残りのマイコンは電源+CANの4ピンケーブルで数珠つなぎ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77639" y="224028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160520" y="244144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40487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GUI搭載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97180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Control / Monitor / Raw / Info の4タブで指令送信とセンサ確認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224028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589519" y="244144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40487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実機なしで試せる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19" y="297180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仮想デバイスで画面やトピック連携をその場で確認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02336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31520" y="422452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8795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ロボマス・AK対応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DJIロボマス・CubeMars AKを専用モードで直接制御（MITモード等）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402336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160520" y="422452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418795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FW生成・書き込み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75488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マイコンの設定をGUIで入力し、生成から書き込みまで完結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4023360"/>
            <a:ext cx="3200400" cy="16002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589519" y="4224528"/>
            <a:ext cx="384048" cy="38404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4187952"/>
            <a:ext cx="2423160" cy="45720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serial_bridge互換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19" y="4754880"/>
            <a:ext cx="28803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serial_tx_[ID] / serial_rx_[ID] はそのまま。既存ノードを流用可能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システム構成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2377440" cy="210312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08760"/>
            <a:ext cx="2103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PC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20240"/>
            <a:ext cx="2103120" cy="1463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ros2can GUI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自作ROS 2ノード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3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Ubuntu 24.04 / Jazzy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2468880"/>
            <a:ext cx="960120" cy="0"/>
          </a:xfrm>
          <a:prstGeom prst="line">
            <a:avLst/>
          </a:prstGeom>
          <a:ln w="38100">
            <a:solidFill>
              <a:srgbClr val="1F1F1F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834640" y="1874519"/>
            <a:ext cx="118872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USB 1本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115200bps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737360"/>
            <a:ext cx="1463040" cy="109728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CANホスト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ノード1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CAN_ID 101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617720" y="2834640"/>
            <a:ext cx="0" cy="411480"/>
          </a:xfrm>
          <a:prstGeom prst="line">
            <a:avLst/>
          </a:prstGeom>
          <a:ln w="28575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886200" y="3703320"/>
            <a:ext cx="14630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サーボ / SW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ENC / MD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0" y="1737360"/>
            <a:ext cx="146304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ノード2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MODE_CAN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CAN_ID 102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400800" y="2834640"/>
            <a:ext cx="0" cy="411480"/>
          </a:xfrm>
          <a:prstGeom prst="line">
            <a:avLst/>
          </a:prstGeom>
          <a:ln w="28575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669280" y="3703320"/>
            <a:ext cx="14630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サーボ / SW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ENC / MD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52360" y="1737360"/>
            <a:ext cx="146304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ノード3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MODE_CAN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CAN_ID 103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183880" y="2834640"/>
            <a:ext cx="0" cy="411480"/>
          </a:xfrm>
          <a:prstGeom prst="line">
            <a:avLst/>
          </a:prstGeom>
          <a:ln w="28575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3703320"/>
            <a:ext cx="14630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サーボ / SW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ENC / MD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737360"/>
            <a:ext cx="1463040" cy="10972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ノード4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MODE_CAN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CAN_ID 104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966960" y="2834640"/>
            <a:ext cx="0" cy="411480"/>
          </a:xfrm>
          <a:prstGeom prst="line">
            <a:avLst/>
          </a:prstGeom>
          <a:ln w="28575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235440" y="3703320"/>
            <a:ext cx="146304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サーボ / SW</a:t>
            </a:r>
          </a:p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ENC / MD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703320" y="3246120"/>
            <a:ext cx="6629400" cy="0"/>
          </a:xfrm>
          <a:prstGeom prst="line">
            <a:avLst/>
          </a:prstGeom>
          <a:ln w="44450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3154680" y="3063239"/>
            <a:ext cx="548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120Ω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20" y="3063239"/>
            <a:ext cx="5486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000" b="0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120Ω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4480560"/>
            <a:ext cx="676656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CANバス 1Mbps（電源+CAN_H/CAN_L の4ピンケーブルでデイジーチェーン）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617720" y="3246120"/>
            <a:ext cx="0" cy="4572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400800" y="3246120"/>
            <a:ext cx="0" cy="4572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8183880" y="3246120"/>
            <a:ext cx="0" cy="4572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9966960" y="3246120"/>
            <a:ext cx="0" cy="45720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4937760"/>
            <a:ext cx="10149840" cy="914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010912"/>
            <a:ext cx="9784080" cy="7772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200"/>
              </a:spcAft>
            </a:pPr>
            <a:r>
              <a:rPr sz="13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ポイント：</a:t>
            </a: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PC⇔ホストは serial_bridge互換の 24 × int16 フレーム。ホストがこの24スロットを各ノードへ5スロットずつ分配・集約します。</a:t>
            </a:r>
          </a:p>
          <a:p>
            <a:pPr algn="l">
              <a:spcAft>
                <a:spcPts val="200"/>
              </a:spcAft>
            </a:pPr>
            <a:r>
              <a:rPr sz="13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ホスト自身もノード1として自分のI/Oを直接処理します（CANを経由しない）。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専用基板（XIAO ESP32-S3）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4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ros2can用に新規設計した小型基板。サーボ・エンコーダ・スイッチ・CANコネクタを備え、電源+CANの4ピンケーブルでデイジーチェーンできます。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331720"/>
          <a:ext cx="5120640" cy="24140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554480"/>
                <a:gridCol w="356616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項目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マイコン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Seeed XIAO ESP32-S3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CANトランシーバ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MCP2561（1Mbps）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MULTI1〜3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スイッチ入力 or サーボ出力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ENC1 / ENC2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エンコーダ入力 or MD出力（PWM+DIR）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接続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USB-C（ホスト時）/ CAN 4ピン ×2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4846320"/>
            <a:ext cx="5120640" cy="914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ピン共有に注意：</a:t>
            </a: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どちらの用途で使うかはファームウェアの config.hpp（MULTIn / ENCn_MD）でコンパイル時に固定します。実配線と設定が一致しないと動きません。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2834640"/>
            <a:ext cx="2011680" cy="13716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XIAO</a:t>
            </a:r>
          </a:p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ESP32-S3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D9D9D9"/>
                </a:solidFill>
                <a:latin typeface="MS PGothic"/>
                <a:ea typeface="MS PGothic"/>
                <a:cs typeface="MS PGothic"/>
              </a:rPr>
              <a:t>+ MCP2561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2148840"/>
            <a:ext cx="109728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MULTI1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SERVO1 / SW1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086600" y="2468880"/>
            <a:ext cx="320040" cy="105156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989320" y="3063240"/>
            <a:ext cx="109728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MULTI2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SERVO2 / SW2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086600" y="3383280"/>
            <a:ext cx="320040" cy="13716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989320" y="3977639"/>
            <a:ext cx="109728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MULTI3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SERVO3 / SW3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7086600" y="3520440"/>
            <a:ext cx="320040" cy="777239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738360" y="2377440"/>
            <a:ext cx="109728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ENC1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ENC1 / MD1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9418320" y="2697480"/>
            <a:ext cx="320040" cy="82296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738360" y="3566160"/>
            <a:ext cx="1097280" cy="64008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ENC2</a:t>
            </a:r>
          </a:p>
          <a:p>
            <a:pPr algn="ctr">
              <a:spcAft>
                <a:spcPts val="0"/>
              </a:spcAft>
            </a:pPr>
            <a:r>
              <a:rPr sz="9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ENC2 / MD2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418320" y="3520440"/>
            <a:ext cx="320040" cy="36576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452360" y="47091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CAN IN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909560" y="4206240"/>
            <a:ext cx="0" cy="502920"/>
          </a:xfrm>
          <a:prstGeom prst="line">
            <a:avLst/>
          </a:prstGeom>
          <a:ln w="19050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549640" y="4709160"/>
            <a:ext cx="914400" cy="502920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 w="12700">
            <a:solidFill>
              <a:srgbClr val="CB1C1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CAN OUT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006840" y="4206240"/>
            <a:ext cx="0" cy="502920"/>
          </a:xfrm>
          <a:prstGeom prst="line">
            <a:avLst/>
          </a:prstGeom>
          <a:ln w="19050">
            <a:solidFill>
              <a:srgbClr val="CB1C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863840" y="160020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USB-C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412480" y="2057400"/>
            <a:ext cx="0" cy="777240"/>
          </a:xfrm>
          <a:prstGeom prst="line">
            <a:avLst/>
          </a:prstGeom>
          <a:ln w="15875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ファームウェアのMODE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7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0149840" cy="3657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286000"/>
                <a:gridCol w="5486400"/>
                <a:gridCol w="237744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MODE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役割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ros2canでの扱い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MODE_CAN_HOST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PCとUSB接続し、配下のノードを束ねるCANホスト（自身もノード1）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CAN Hostプロファイル（既定）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MODE_CAN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ホスト配下の汎用IOノード（PCとは直接繋がない）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ホスト側プロファイルに内包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MODE_ROBOMAS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DJIロボマス最大4台を直接駆動する独立デバイス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robomas_driver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MODE_CUBEMARS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CubeMars AKシリーズ最大4台を直接駆動する独立デバイス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cubemars_ak_driver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CANを使わない、IOのみのスタンドアロン動作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汎用 Raw 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MODE_CAN_MONITOR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生CANフレームをシリアル出力するだけの診断用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ツールバー「CANモニター…」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1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MODE_DEBUG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開発・デバッグ用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3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66360"/>
            <a:ext cx="1014984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config.hpp </a:t>
            </a: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で MODE を1つだけ定義します（複数定義・未定義はビルドエラー）。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GUIを使ってみる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インストールから、実機なしでの操作、安全な止め方まで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インストールと起動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9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63040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34440" y="1417320"/>
            <a:ext cx="356616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依存パッケージを入れる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828800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PyQt5 と pyserial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542032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496312"/>
            <a:ext cx="356616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ポート権限を付与（初回のみ）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907792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dialout グループに追加 → 再ログイン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621024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75304"/>
            <a:ext cx="356616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ビルドして起動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986784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ros2 run でも launch でもOK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700016"/>
            <a:ext cx="502920" cy="50292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654296"/>
            <a:ext cx="3566160" cy="411480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自動でマイコンを検出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065776"/>
            <a:ext cx="35661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ホスト基板をUSBに挿すだけで一覧に出る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1417320"/>
            <a:ext cx="5715000" cy="434340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1. 依存パッケージ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sudo apt install python3-pyqt5 python3-serial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2. ポート権限（初回のみ・要再ログイン）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sudo usermod -aG dialout $USER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3. ビルド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cd ~/ros2_ws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colcon build --packages-select ros2can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source install/setup.bash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3. 起動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 run ros2can ros2can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yamlのパラメータを読むなら</a:t>
            </a:r>
          </a:p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 launch ros2can ros2can.launch.py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画面構成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10</a:t>
            </a:r>
          </a:p>
        </p:txBody>
      </p:sp>
      <p:pic>
        <p:nvPicPr>
          <p:cNvPr id="4" name="Picture 3" descr="03_control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371600"/>
            <a:ext cx="6766560" cy="409776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5" name="Oval 4"/>
          <p:cNvSpPr/>
          <p:nvPr/>
        </p:nvSpPr>
        <p:spPr>
          <a:xfrm>
            <a:off x="1078992" y="2454624"/>
            <a:ext cx="292608" cy="29260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Oval 5"/>
          <p:cNvSpPr/>
          <p:nvPr/>
        </p:nvSpPr>
        <p:spPr>
          <a:xfrm>
            <a:off x="2905963" y="1040896"/>
            <a:ext cx="292608" cy="29260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4597603" y="1532628"/>
            <a:ext cx="292608" cy="29260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8" name="Oval 7"/>
          <p:cNvSpPr/>
          <p:nvPr/>
        </p:nvSpPr>
        <p:spPr>
          <a:xfrm>
            <a:off x="4868265" y="2249736"/>
            <a:ext cx="292608" cy="29260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9" name="Oval 8"/>
          <p:cNvSpPr/>
          <p:nvPr/>
        </p:nvSpPr>
        <p:spPr>
          <a:xfrm>
            <a:off x="1721815" y="2003870"/>
            <a:ext cx="292608" cy="29260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10" name="Oval 9"/>
          <p:cNvSpPr/>
          <p:nvPr/>
        </p:nvSpPr>
        <p:spPr>
          <a:xfrm>
            <a:off x="6559905" y="2249736"/>
            <a:ext cx="292608" cy="292608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11" name="Oval 10"/>
          <p:cNvSpPr/>
          <p:nvPr/>
        </p:nvSpPr>
        <p:spPr>
          <a:xfrm>
            <a:off x="7589520" y="1408176"/>
            <a:ext cx="329184" cy="329184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1335024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デバイス一覧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1645920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検出したマイコン。右クリックで削除</a:t>
            </a:r>
          </a:p>
        </p:txBody>
      </p:sp>
      <p:sp>
        <p:nvSpPr>
          <p:cNvPr id="14" name="Oval 13"/>
          <p:cNvSpPr/>
          <p:nvPr/>
        </p:nvSpPr>
        <p:spPr>
          <a:xfrm>
            <a:off x="7589520" y="2121408"/>
            <a:ext cx="329184" cy="329184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048256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ツールバー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2359152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再スキャン・FW生成・E-STOP など</a:t>
            </a:r>
          </a:p>
        </p:txBody>
      </p:sp>
      <p:sp>
        <p:nvSpPr>
          <p:cNvPr id="17" name="Oval 16"/>
          <p:cNvSpPr/>
          <p:nvPr/>
        </p:nvSpPr>
        <p:spPr>
          <a:xfrm>
            <a:off x="7589520" y="2834640"/>
            <a:ext cx="329184" cy="329184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761488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プロファイル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072384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24スロットの解釈（ノード構成）を選ぶ</a:t>
            </a:r>
          </a:p>
        </p:txBody>
      </p:sp>
      <p:sp>
        <p:nvSpPr>
          <p:cNvPr id="20" name="Oval 19"/>
          <p:cNvSpPr/>
          <p:nvPr/>
        </p:nvSpPr>
        <p:spPr>
          <a:xfrm>
            <a:off x="7589520" y="3547872"/>
            <a:ext cx="329184" cy="329184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3474720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タブ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46720" y="3785615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Control / Monitor / Raw / Info</a:t>
            </a:r>
          </a:p>
        </p:txBody>
      </p:sp>
      <p:sp>
        <p:nvSpPr>
          <p:cNvPr id="23" name="Oval 22"/>
          <p:cNvSpPr/>
          <p:nvPr/>
        </p:nvSpPr>
        <p:spPr>
          <a:xfrm>
            <a:off x="7589520" y="4261104"/>
            <a:ext cx="329184" cy="329184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4187952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トピック通過 / ダイレクト送信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46720" y="4498848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外部ノードの指令か、GUIの値か</a:t>
            </a:r>
          </a:p>
        </p:txBody>
      </p:sp>
      <p:sp>
        <p:nvSpPr>
          <p:cNvPr id="26" name="Oval 25"/>
          <p:cNvSpPr/>
          <p:nvPr/>
        </p:nvSpPr>
        <p:spPr>
          <a:xfrm>
            <a:off x="7589520" y="4974336"/>
            <a:ext cx="329184" cy="329184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4901184"/>
            <a:ext cx="2743200" cy="347472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全スロットを0にして送信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5212080"/>
            <a:ext cx="274320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そのデバイスへゼロ指令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579089"/>
            <a:ext cx="676656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Controlタブ：スライダーで指令値を編集し、ダイレクト送信をONにした状態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実機なしで試す：デバッグデバイス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11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44168"/>
            <a:ext cx="402336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「デバッグデバイスを追加（実機不要）…」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92808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DEVICE_ID（例: 1）を入力すると仮想デバイスが一覧に出る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44144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68296"/>
            <a:ext cx="402336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Controlタブでスライダーを動かす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916936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右上の「ダイレクト送信」にチェックを入れると送信開始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465576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392424"/>
            <a:ext cx="402336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Monitor / Raw / Info で値を確認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941064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書いた値が仮想デバイスのRXにループバックされる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89704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416552"/>
            <a:ext cx="4023360" cy="566928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スイッチやカウンタを手入力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965192"/>
            <a:ext cx="40233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Monitorタブで実機のセンサ入力を再現できる</a:t>
            </a:r>
          </a:p>
        </p:txBody>
      </p:sp>
      <p:pic>
        <p:nvPicPr>
          <p:cNvPr id="16" name="Picture 15" descr="04_monitor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1417320"/>
            <a:ext cx="5257800" cy="318407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7" name="TextBox 16"/>
          <p:cNvSpPr txBox="1"/>
          <p:nvPr/>
        </p:nvSpPr>
        <p:spPr>
          <a:xfrm>
            <a:off x="5486400" y="4709160"/>
            <a:ext cx="5257800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仮想デバイスも実機と同じく </a:t>
            </a:r>
            <a:r>
              <a:rPr sz="12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serial_rx_[ID]</a:t>
            </a: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 をPublish / </a:t>
            </a:r>
            <a:r>
              <a:rPr sz="12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serial_tx_[ID]</a:t>
            </a:r>
            <a:r>
              <a:rPr sz="125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 をSubscribeするので、rqtや自作ノードのテストにそのまま使えます。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4つのタブ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4937760" cy="2057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pic>
        <p:nvPicPr>
          <p:cNvPr id="5" name="Picture 4" descr="03_control_ta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14297"/>
            <a:ext cx="2926080" cy="177200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3749039" y="155448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49039" y="1938528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指令送信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9039" y="228600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サーボ・モータ等へ指令。送信には「ダイレクト送信」ONが必要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371600"/>
            <a:ext cx="4937760" cy="2057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pic>
        <p:nvPicPr>
          <p:cNvPr id="10" name="Picture 9" descr="04_monitor_ta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514297"/>
            <a:ext cx="2926080" cy="177200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8915400" y="155448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Monitor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0" y="1938528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センサ受信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28600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スイッチ・エンコーダ等をリアルタイム表示。「原点セット」も可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611880"/>
            <a:ext cx="4937760" cy="2057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pic>
        <p:nvPicPr>
          <p:cNvPr id="15" name="Picture 14" descr="05_raw_ta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754577"/>
            <a:ext cx="2926080" cy="177200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16" name="TextBox 15"/>
          <p:cNvSpPr txBox="1"/>
          <p:nvPr/>
        </p:nvSpPr>
        <p:spPr>
          <a:xfrm>
            <a:off x="3749039" y="379476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Raw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49039" y="4178808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全24スロット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49039" y="452628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プロファイルを介さず生の24スロットを直接編集・確認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15000" y="3611880"/>
            <a:ext cx="4937760" cy="20574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pic>
        <p:nvPicPr>
          <p:cNvPr id="20" name="Picture 19" descr="06_info_tab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2160" y="3754577"/>
            <a:ext cx="2926080" cy="1772004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  <p:sp>
        <p:nvSpPr>
          <p:cNvPr id="21" name="TextBox 20"/>
          <p:cNvSpPr txBox="1"/>
          <p:nvPr/>
        </p:nvSpPr>
        <p:spPr>
          <a:xfrm>
            <a:off x="8915400" y="3794760"/>
            <a:ext cx="16459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Info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4178808"/>
            <a:ext cx="164592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通信状態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526280"/>
            <a:ext cx="1645920" cy="10972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接続状態・RX周波数・フレーム数。通信トラブルの切り分けに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安全機能と止め方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66928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655064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508760"/>
            <a:ext cx="4754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ダイレクト送信は既定OFF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892808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起動直後は何も送信されない。値を確認してからONにする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96312"/>
            <a:ext cx="566928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31520" y="2734056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87752"/>
            <a:ext cx="4754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■ 全デバイス E-STOP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971800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全デバイスにゼロ指令を送り、送信を無効化。迷ったらこれ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575304"/>
            <a:ext cx="566928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31520" y="381304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66744"/>
            <a:ext cx="4754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ウィンドウを閉じる＝ゼロ指令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050791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閉じるだけでも安全側に倒れる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654296"/>
            <a:ext cx="5669280" cy="93268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31520" y="489204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745736"/>
            <a:ext cx="4754880" cy="384048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モード値0で安全停止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129783"/>
            <a:ext cx="475488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CubeMars / ロボマスは全ゼロで速度ループ・目標0＝その場で停止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0" y="1417320"/>
            <a:ext cx="4160520" cy="4169663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0" y="1600200"/>
            <a:ext cx="3657600" cy="5486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注意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240280"/>
            <a:ext cx="3657600" cy="32004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1200"/>
              </a:spcAft>
            </a:pPr>
            <a:r>
              <a:rPr sz="14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ファームウェアに通信途絶時のフェイルセーフはありません。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CAN・シリアルが途切れても、マイコンは最後に受け取った指令を保持し続けます。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自作ノードで動かす場合は、ノード終了時にゼロ指令を送る処理を必ず入れてください（例：on_shutdown）。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自作ノードから動かす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トピック・スロット割当・サンプルコード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トピック・インターフェース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377440" cy="13716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12700">
            <a:solidFill>
              <a:srgbClr val="8C8C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自作ノード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rclcpp / rclpy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463040"/>
            <a:ext cx="2377440" cy="13716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ros2can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GUI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1463040"/>
            <a:ext cx="2286000" cy="1371600"/>
          </a:xfrm>
          <a:prstGeom prst="roundRect">
            <a:avLst>
              <a:gd name="adj" fmla="val 12000"/>
            </a:avLst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CANホスト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→ 各ノード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926080" y="1874519"/>
            <a:ext cx="1554480" cy="0"/>
          </a:xfrm>
          <a:prstGeom prst="line">
            <a:avLst/>
          </a:prstGeom>
          <a:ln w="31750">
            <a:solidFill>
              <a:srgbClr val="1F1F1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926080" y="1481328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serial_tx_[ID]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926080" y="2468880"/>
            <a:ext cx="1554480" cy="0"/>
          </a:xfrm>
          <a:prstGeom prst="line">
            <a:avLst/>
          </a:prstGeom>
          <a:ln w="31750">
            <a:solidFill>
              <a:srgbClr val="CB1C14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926080" y="251460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CB1C14"/>
                </a:solidFill>
                <a:latin typeface="MS Gothic"/>
                <a:ea typeface="MS Gothic"/>
                <a:cs typeface="MS Gothic"/>
              </a:rPr>
              <a:t>serial_rx_[ID]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0" y="2148840"/>
            <a:ext cx="1554480" cy="0"/>
          </a:xfrm>
          <a:prstGeom prst="line">
            <a:avLst/>
          </a:prstGeom>
          <a:ln w="31750">
            <a:solidFill>
              <a:srgbClr val="59595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0" y="1737360"/>
            <a:ext cx="1554480" cy="3657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USB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548640" y="3154680"/>
          <a:ext cx="10149840" cy="241401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834640"/>
                <a:gridCol w="1828800"/>
                <a:gridCol w="1554480"/>
                <a:gridCol w="3931920"/>
              </a:tblGrid>
              <a:tr h="402336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トピック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型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向き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serial_tx_[ID]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Int16MultiArray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 → ホスト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制御指令（24スロット）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serial_rx_[ID]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Int16MultiArray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ホスト → ROS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センサ値（24スロット、serial_bridge互換）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serial_rx_[ID]_unwrapped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Int32MultiArray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ホスト → ROS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エンコーダのオーバーフローを展開した積算値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serial_rx_[ID]_zeroed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Int32MultiArray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ホスト → ROS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「原点セット」時点からの相対値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zero_channel_request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Int32MultiArray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ROS → ros2can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[device_id, ch] で原点セット（ch&lt;0で全ch）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24スロットの割当（既定プロファイル）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16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508760"/>
            <a:ext cx="386334" cy="54864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0</a:t>
            </a:r>
          </a:p>
        </p:txBody>
      </p:sp>
      <p:sp>
        <p:nvSpPr>
          <p:cNvPr id="5" name="Rectangle 4"/>
          <p:cNvSpPr/>
          <p:nvPr/>
        </p:nvSpPr>
        <p:spPr>
          <a:xfrm>
            <a:off x="989838" y="1508760"/>
            <a:ext cx="386334" cy="54864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412748" y="1508760"/>
            <a:ext cx="386334" cy="54864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1835657" y="1508760"/>
            <a:ext cx="386334" cy="54864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68" y="1508760"/>
            <a:ext cx="386334" cy="548640"/>
          </a:xfrm>
          <a:prstGeom prst="rect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1478" y="1508760"/>
            <a:ext cx="386334" cy="54864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4388" y="1508760"/>
            <a:ext cx="386334" cy="54864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27298" y="1508760"/>
            <a:ext cx="386334" cy="54864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50207" y="1508760"/>
            <a:ext cx="386334" cy="54864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73117" y="1508760"/>
            <a:ext cx="386334" cy="548640"/>
          </a:xfrm>
          <a:prstGeom prst="rect">
            <a:avLst/>
          </a:prstGeom>
          <a:solidFill>
            <a:srgbClr val="E06A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796027" y="1508760"/>
            <a:ext cx="386334" cy="54864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18937" y="1508760"/>
            <a:ext cx="386334" cy="54864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41847" y="1508760"/>
            <a:ext cx="386334" cy="54864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4757" y="1508760"/>
            <a:ext cx="386334" cy="54864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87667" y="1508760"/>
            <a:ext cx="386334" cy="548640"/>
          </a:xfrm>
          <a:prstGeom prst="rect">
            <a:avLst/>
          </a:prstGeom>
          <a:solidFill>
            <a:srgbClr val="9E9E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10577" y="1508760"/>
            <a:ext cx="386334" cy="54864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33488" y="1508760"/>
            <a:ext cx="386334" cy="54864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56398" y="1508760"/>
            <a:ext cx="386334" cy="54864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79307" y="1508760"/>
            <a:ext cx="386334" cy="54864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02217" y="1508760"/>
            <a:ext cx="386334" cy="548640"/>
          </a:xfrm>
          <a:prstGeom prst="rect">
            <a:avLst/>
          </a:prstGeom>
          <a:solidFill>
            <a:srgbClr val="5C5C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25128" y="1508760"/>
            <a:ext cx="38633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48037" y="1508760"/>
            <a:ext cx="38633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70947" y="1508760"/>
            <a:ext cx="38633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293857" y="1508760"/>
            <a:ext cx="386334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100" b="1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23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103120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ノード1＝ホスト（101）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63190" y="2103120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ノード2（CAN_ID 102）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7740" y="2103120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ノード3（CAN_ID 103）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92289" y="2103120"/>
            <a:ext cx="2114550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ノード4（CAN_ID 104）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06840" y="2103120"/>
            <a:ext cx="1691639" cy="3200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ctr">
              <a:spcAft>
                <a:spcPts val="400"/>
              </a:spcAft>
            </a:pPr>
            <a:r>
              <a:rPr sz="115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未使用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48640" y="2697480"/>
            <a:ext cx="4754880" cy="73152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600" b="1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index = node × 5 + local</a:t>
            </a:r>
          </a:p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node はコード上0始まり（ノード1 → 0）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548640" y="3657600"/>
          <a:ext cx="4754880" cy="208483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914400"/>
                <a:gridCol w="1920240"/>
                <a:gridCol w="1920240"/>
              </a:tblGrid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local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指令（TX）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帰還（RX）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SERVO1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SW1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SERVO2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SW2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SERVO3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SW3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（予備）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ENC1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（予備）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ENC2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Rounded Rectangle 34"/>
          <p:cNvSpPr/>
          <p:nvPr/>
        </p:nvSpPr>
        <p:spPr>
          <a:xfrm>
            <a:off x="5669280" y="2697480"/>
            <a:ext cx="5029200" cy="313639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97880" y="2834640"/>
            <a:ext cx="46634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プロファイルとは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3291840"/>
            <a:ext cx="4663440" cy="25146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8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24スロットをどう解釈するかの設定セット。デバイスごとに切り替えられる</a:t>
            </a:r>
          </a:p>
          <a:p>
            <a:pPr algn="l" marL="201168" indent="-201168">
              <a:spcAft>
                <a:spcPts val="8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組み込み：SMD / MES / SS（CAN Host）、FOC、robomas_driver、cubemars_ak_driver、generic_raw</a:t>
            </a:r>
          </a:p>
          <a:p>
            <a:pPr algn="l" marL="201168" indent="-201168">
              <a:spcAft>
                <a:spcPts val="8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ノード数・スロット数を変えたら「プロファイル編集」で作成（~/.config/ros2can/profiles/ に保存）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サンプル：サーボを動かす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17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492240" cy="443484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#include "common/Ros2CanPacketController.hpp"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Ros2CanPacketController pkt;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1) 指令をpublish（ID = ホストのDEVICE_ID）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pub_ = create_publisher&lt;Int16MultiArray&gt;("serial_tx_1", 10);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2) 一定周期で送り続ける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void timer_callback() {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pkt.setServo(/*node*/0, /*servo*/1, 90);  </a:t>
            </a: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ノード1のSERVO1を90度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Int16MultiArray msg;  msg.data = pkt.toVector();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pub_-&gt;publish(msg);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3) センサ値を受け取る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void sensor_callback(const Int16MultiArray::SharedPtr m) {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pkt.updateRx(m-&gt;data);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bool sw1 = pkt.getSW(0, 1);  int16_t enc1 = pkt.getEnc(0, 1);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}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// 終了時にゼロ指令（ノード側の責務）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rclcpp::on_shutdown([this]{ send_zero_and_stop(); });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0" y="1371600"/>
            <a:ext cx="342900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主なメソッド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0" y="1828800"/>
          <a:ext cx="3429000" cy="219456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83080"/>
                <a:gridCol w="1645920"/>
              </a:tblGrid>
              <a:tr h="36576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メソッド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setServo(n, k, deg)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SERVOk を角度指令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getSW(n, k)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SWk の状態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getEnc(n, k)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ENCk のカウント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updateRx(data)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受信値を反映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Gothic"/>
                          <a:ea typeface="MS Gothic"/>
                          <a:cs typeface="MS Gothic"/>
                        </a:rPr>
                        <a:t>toVector()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送信用配列を取得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315200" y="4160520"/>
            <a:ext cx="3429000" cy="1645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n はノード番号（0始まり、ノード1 → 0）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完全版：</a:t>
            </a:r>
            <a:r>
              <a:rPr sz="120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ros2can_example</a:t>
            </a:r>
          </a:p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CubeMars用：</a:t>
            </a:r>
            <a:r>
              <a:rPr sz="1050" b="0" i="0">
                <a:solidFill>
                  <a:srgbClr val="595959"/>
                </a:solidFill>
                <a:latin typeface="MS Gothic"/>
                <a:ea typeface="MS Gothic"/>
                <a:cs typeface="MS Gothic"/>
              </a:rPr>
              <a:t>Ros2CanCubemarsPacketController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CLIで疎通確認・GUIとの関係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18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6035040" cy="2926080"/>
          </a:xfrm>
          <a:prstGeom prst="roundRect">
            <a:avLst>
              <a:gd name="adj" fmla="val 4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182880" rIns="182880" tIns="128016" bIns="128016" wrap="square"/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受信を眺める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 topic echo /serial_rx_1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1回だけ送る（先頭=SERVO1に90）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 topic pub --once /serial_tx_1 \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std_msgs/msg/Int16MultiArray \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"{data: [90,0,0,0,0, 0,0,0,0,0, 0,0,0,0,0,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         0,0,0,0,0, 0,0,0,0]}"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FBF7F"/>
                </a:solidFill>
                <a:latin typeface="MS Gothic"/>
                <a:ea typeface="MS Gothic"/>
                <a:cs typeface="MS Gothic"/>
              </a:rPr>
              <a:t># デバイス1の全チャンネルを原点セット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ros2 topic pub --once /zero_channel_request \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EDEDED"/>
                </a:solidFill>
                <a:latin typeface="MS Gothic"/>
                <a:ea typeface="MS Gothic"/>
                <a:cs typeface="MS Gothic"/>
              </a:rPr>
              <a:t>  std_msgs/msg/Int32MultiArray "{data: [1, -1]}"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480560"/>
            <a:ext cx="6035040" cy="1280160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572000"/>
            <a:ext cx="5669280" cy="1143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--once を忘れずに</a:t>
            </a:r>
          </a:p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ros2 topic pub は既定で周期送信。忘れると指令が送られ続けます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371600"/>
            <a:ext cx="3749039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外部ノードの指令が届く条件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949440" y="1874519"/>
          <a:ext cx="3749040" cy="175564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234440"/>
                <a:gridCol w="1280160"/>
                <a:gridCol w="1234440"/>
              </a:tblGrid>
              <a:tr h="4389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トピック通過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ダイレクト送信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実機に届く値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ON（既定）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OFF（既定）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外部ノード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ON / OFF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ON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GUIの値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OFF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送信されない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49440" y="3749039"/>
            <a:ext cx="3749039" cy="20116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8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ダイレクト送信ONのデバイスは serial_tx_[ID] を無視します</a:t>
            </a:r>
          </a:p>
          <a:p>
            <a:pPr algn="l" marL="201168" indent="-201168">
              <a:spcAft>
                <a:spcPts val="8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ダイレクト送信中は 20Hz で現在値を周期送信します</a:t>
            </a:r>
          </a:p>
          <a:p>
            <a:pPr algn="l" marL="201168" indent="-201168">
              <a:spcAft>
                <a:spcPts val="8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実機が無くても「デバイスを手動追加…」でトピックを先に確認できます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377440"/>
            <a:ext cx="9144000" cy="1188720"/>
          </a:xfrm>
        </p:spPr>
        <p:txBody>
          <a:bodyPr anchor="t"/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応用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3566160"/>
            <a:ext cx="9144000" cy="914400"/>
          </a:xfrm>
        </p:spPr>
        <p:txBody>
          <a:bodyPr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CubeMars AK・DJIロボマス・ファームウェア生成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234440"/>
            <a:ext cx="2743200" cy="109728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>
              <a:spcAft>
                <a:spcPts val="400"/>
              </a:spcAft>
            </a:pPr>
            <a:r>
              <a:rPr sz="72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CubeMars AK（MODE_CUBEMARS）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486400" cy="7315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独立デバイスとしてAKシリーズ最大4台を直接制御。アクチュエータ内蔵のクローズドループを使うので、ホスト側でPIDは不要です。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48840"/>
          <a:ext cx="5486400" cy="1536192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2103120"/>
                <a:gridCol w="2011680"/>
              </a:tblGrid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control_mode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モード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target の単位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速度ループ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10 ERPM / LSB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位置ループ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0.1 deg / LSB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MIT（Force Control）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5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0.1 deg / LSB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8640" y="3840480"/>
            <a:ext cx="5486400" cy="914400"/>
          </a:xfrm>
          <a:prstGeom prst="roundRect">
            <a:avLst>
              <a:gd name="adj" fmla="val 12000"/>
            </a:avLst>
          </a:prstGeom>
          <a:solidFill>
            <a:srgbClr val="1F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MS Gothic"/>
                <a:ea typeface="MS Gothic"/>
                <a:cs typeface="MS Gothic"/>
              </a:rPr>
              <a:t>torque = Kp·(pos_des − pos) + Kd·(vel_des − vel) + τ_ff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5486400" cy="100584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Kp を下げると外力を柔らかく受け流す関節になる</a:t>
            </a:r>
          </a:p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Kp=0 + τ_ff でトルク制御（重力補償など）にも</a:t>
            </a:r>
          </a:p>
          <a:p>
            <a:pPr algn="l" marL="201168" indent="-201168">
              <a:spcAft>
                <a:spcPts val="4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Kp/Kd は小さい値から少しずつ上げる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4389120" cy="4434840"/>
          </a:xfrm>
          <a:prstGeom prst="roundRect">
            <a:avLst>
              <a:gd name="adj" fmla="val 12000"/>
            </a:avLst>
          </a:prstGeom>
          <a:solidFill>
            <a:srgbClr val="F9E3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0876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角度には上限があります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20240"/>
            <a:ext cx="3931920" cy="82296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±716.2°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761488"/>
            <a:ext cx="393192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spcAft>
                <a:spcPts val="400"/>
              </a:spcAft>
            </a:pPr>
            <a:r>
              <a:rPr sz="13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MIT/位置の出力軸上限（±12.5 rad）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3429000"/>
            <a:ext cx="3931920" cy="228600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AKシリーズ共通のMITプロトコルの固定小数点の限界で、設定では変えられない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範囲外は無警告でクランプ →「ある角度から先が動かない」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負荷側 ＝ ±716.2° ÷ 減速比（13.7:1で約±52°）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連続回転の関節は速度ループを使う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DJIロボマス（MODE_ROBOMAS）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5852160" cy="8229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3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M3508 / M2006 / GM6020 のいずれか1機種を最大4台。機種は config.hpp の ROBOMAS_MOTOR_TYPE で固定します。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5852160" cy="13716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600"/>
                <a:gridCol w="1463040"/>
                <a:gridCol w="3017520"/>
              </a:tblGrid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control_mode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モード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S PGothic"/>
                          <a:ea typeface="MS PGothic"/>
                          <a:cs typeface="MS PGothic"/>
                        </a:rPr>
                        <a:t>内容</a:t>
                      </a:r>
                    </a:p>
                  </a:txBody>
                  <a:tcPr marL="73152" marR="73152" marT="27432" marB="27432" anchor="ctr">
                    <a:solidFill>
                      <a:srgbClr val="1F1F1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0（既定）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速度ループ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target = 出力軸rpm（PIDゲインはFW固定）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MIT（位置PD）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1F1F1F"/>
                          </a:solidFill>
                          <a:latin typeface="MS PGothic"/>
                          <a:ea typeface="MS PGothic"/>
                          <a:cs typeface="MS PGothic"/>
                        </a:rPr>
                        <a:t>target = 出力軸角度 1deg/LSB</a:t>
                      </a:r>
                    </a:p>
                  </a:txBody>
                  <a:tcPr marL="73152" marR="73152" marT="27432" marB="27432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657600"/>
            <a:ext cx="585216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CubeMarsとの違い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5852160" cy="173736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ロボマスのESCは電流指令しか受け付けないため、位置PDループをマイコン（robomas.cpp）で計算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mit_kp / mit_kd / mit_current_ff はCAN経由で毎周期変更できる</a:t>
            </a:r>
          </a:p>
          <a:p>
            <a:pPr algn="l" marL="201168" indent="-201168">
              <a:spcAft>
                <a:spcPts val="600"/>
              </a:spcAft>
              <a:buClr>
                <a:srgbClr val="CB1C14"/>
              </a:buClr>
              <a:buFont typeface="Arial"/>
              <a:buChar char="•"/>
            </a:pP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指令送信は200Hz固定。CubeMarsと同じ1Mbpsなので同一バスに混在できる（CAN IDの重複に注意）</a:t>
            </a:r>
          </a:p>
        </p:txBody>
      </p:sp>
      <p:pic>
        <p:nvPicPr>
          <p:cNvPr id="8" name="Picture 7" descr="12_robomas_contro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1376854"/>
            <a:ext cx="3977639" cy="4378611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ファームウェア生成・書き込み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22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417320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テンプレートを確認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764792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firmware/xiao-esp32-s3_can2io が自動検出される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350008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304288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設定を入力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697480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DEVICE_ID・CAN_ID・MODE・BOARD_VARIANT・MULTI・サーボ範囲など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36976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「生成」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630168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config.hpp への変更点を確認 → generated_firmware/&lt;名前&gt;/ に生成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215384"/>
            <a:ext cx="457200" cy="457200"/>
          </a:xfrm>
          <a:prstGeom prst="ellipse">
            <a:avLst/>
          </a:prstGeom>
          <a:solidFill>
            <a:srgbClr val="CB1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S PGothic"/>
                <a:ea typeface="MS PGothic"/>
                <a:cs typeface="MS PGothic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69664"/>
            <a:ext cx="512064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プロジェクトとポートを選んで「書き込み」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62856"/>
            <a:ext cx="5120640" cy="50292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pio run -t upload を実行。ポート専有は自動で一時解除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212080"/>
            <a:ext cx="5760720" cy="621792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230368"/>
            <a:ext cx="5486400" cy="585216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必要なもの：</a:t>
            </a: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PlatformIO CLI（</a:t>
            </a:r>
            <a:r>
              <a:rPr sz="1250" b="0" i="0">
                <a:solidFill>
                  <a:srgbClr val="1F1F1F"/>
                </a:solidFill>
                <a:latin typeface="MS Gothic"/>
                <a:ea typeface="MS Gothic"/>
                <a:cs typeface="MS Gothic"/>
              </a:rPr>
              <a:t>pip install -U platformio</a:t>
            </a:r>
            <a:r>
              <a:rPr sz="125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）</a:t>
            </a:r>
          </a:p>
        </p:txBody>
      </p:sp>
      <p:pic>
        <p:nvPicPr>
          <p:cNvPr id="18" name="Picture 17" descr="14_firmware_dialo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8564" y="1325880"/>
            <a:ext cx="3822192" cy="4526280"/>
          </a:xfrm>
          <a:prstGeom prst="rect">
            <a:avLst/>
          </a:prstGeom>
          <a:ln w="9525">
            <a:solidFill>
              <a:srgbClr val="D9D9D9"/>
            </a:solidFill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7863840" cy="822960"/>
          </a:xfrm>
        </p:spPr>
        <p:txBody>
          <a:bodyPr anchor="ctr" wrap="square"/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まとめ・参考資料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3657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8C8C8C"/>
                </a:solidFill>
                <a:latin typeface="MS PGothic"/>
                <a:ea typeface="MS PGothic"/>
                <a:cs typeface="MS PGothic"/>
              </a:rPr>
              <a:t>ros2can 講習   23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539496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90472"/>
            <a:ext cx="137160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配線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490472"/>
            <a:ext cx="379476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PCとはUSB1本、残りはCANでデイジーチェーン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423160"/>
            <a:ext cx="539496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496312"/>
            <a:ext cx="137160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GUI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7400" y="2496312"/>
            <a:ext cx="379476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実機なしでも仮想デバイスで試せる。止めるときはE-STOP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3429000"/>
            <a:ext cx="539496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502152"/>
            <a:ext cx="137160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自作ノード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502152"/>
            <a:ext cx="379476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serial_tx_[ID] / serial_rx_[ID]。Ros2CanPacketControllerで安全に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434840"/>
            <a:ext cx="5394960" cy="841248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36576" bIns="36576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507992"/>
            <a:ext cx="137160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CB1C14"/>
                </a:solidFill>
                <a:latin typeface="MS PGothic"/>
                <a:ea typeface="MS PGothic"/>
                <a:cs typeface="MS PGothic"/>
              </a:rPr>
              <a:t>応用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4507992"/>
            <a:ext cx="3794760" cy="694944"/>
          </a:xfrm>
          <a:prstGeom prst="rect">
            <a:avLst/>
          </a:prstGeom>
          <a:noFill/>
        </p:spPr>
        <p:txBody>
          <a:bodyPr wrap="square" anchor="ctr" lIns="45720" rIns="45720"/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CubeMars・ロボマスの専用モード、FW生成・書き込みもGUIで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417320"/>
            <a:ext cx="4389120" cy="411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参考資料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920240"/>
            <a:ext cx="4389120" cy="3840480"/>
          </a:xfrm>
          <a:prstGeom prst="rect">
            <a:avLst/>
          </a:prstGeom>
          <a:noFill/>
        </p:spPr>
        <p:txBody>
          <a:bodyPr wrap="square" anchor="t" lIns="45720" rIns="45720"/>
          <a:lstStyle/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マニュアル（全機能）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rrst-nhk-project.github.io/ros2can/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クイックスタート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rrst-nhk-project.github.io/ros2can/quickstart/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技術マニュアル（内部実装編）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rrst-nhk-project.github.io/ros2can/internals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GitHub</a:t>
            </a:r>
          </a:p>
          <a:p>
            <a:pPr algn="l">
              <a:spcAft>
                <a:spcPts val="1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github.com/RRST-NHK-Project/ros2can</a:t>
            </a:r>
          </a:p>
          <a:p>
            <a:pPr algn="l">
              <a:spcAft>
                <a:spcPts val="200"/>
              </a:spcAft>
            </a:pPr>
            <a:r>
              <a:rPr sz="1400" b="1" i="0">
                <a:solidFill>
                  <a:srgbClr val="1F1F1F"/>
                </a:solidFill>
                <a:latin typeface="MS PGothic"/>
                <a:ea typeface="MS PGothic"/>
                <a:cs typeface="MS PGothic"/>
              </a:rPr>
              <a:t>基板（kicad-ws）</a:t>
            </a:r>
          </a:p>
          <a:p>
            <a:pPr algn="l">
              <a:spcAft>
                <a:spcPts val="200"/>
              </a:spcAft>
            </a:pPr>
            <a:r>
              <a:rPr sz="1200" b="0" i="0">
                <a:solidFill>
                  <a:srgbClr val="595959"/>
                </a:solidFill>
                <a:latin typeface="MS PGothic"/>
                <a:ea typeface="MS PGothic"/>
                <a:cs typeface="MS PGothic"/>
              </a:rPr>
              <a:t>RRST-NHK-Project/kicad-ws / XIAO ESP32-S3-SMD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S PGothic"/>
        <a:ea typeface="MS PGothic"/>
        <a:cs typeface=""/>
        <a:font script="Jpan" typeface="MS PGothic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S PGothic"/>
        <a:ea typeface="MS PGothic"/>
        <a:cs typeface=""/>
        <a:font script="Jpan" typeface="MS P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プレゼンテーション1" id="{7531F1DA-E5ED-4977-9D2C-CB9870891181}" vid="{35052030-CB63-452C-8C6E-2B56BD0C9A5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0</Words>
  <Application>Microsoft Office PowerPoint</Application>
  <PresentationFormat>ワイド画面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松枝 勇樹(rr0163fx)</dc:creator>
  <cp:lastModifiedBy>松枝 勇樹(rr0163fx)</cp:lastModifiedBy>
  <cp:revision>1</cp:revision>
  <dcterms:created xsi:type="dcterms:W3CDTF">2024-03-20T13:06:38Z</dcterms:created>
  <dcterms:modified xsi:type="dcterms:W3CDTF">2024-03-20T13:08:05Z</dcterms:modified>
</cp:coreProperties>
</file>