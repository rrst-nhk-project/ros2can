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CC"/>
    <a:srgbClr val="CB1C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serial_bridgeを使ってきた人向け。何が良くなったのか、何が変わらないのか、どう移行するのかを話す。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この3つだけ覚えて帰ってもらえればOK。特に1つ目が最大の目玉。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serial_bridgeのときは開発者1名・低予算でCANの開発コストが高いと判断して見送った。serial_bridgeで作ったフレームやID方式を土台に、CAN化とGUI化をしたのがros2can。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ここが一番伝えたいところ。serial_bridgeは星型でマイコンの数だけUSBが必要。ros2canはPCとはホスト1台分のUSB1本で、残りは電源+CANの4ピンケーブルで数珠つなぎ。台数が増えてもPC側の配線は増えない。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4基板構成の場合、USBは4本から1本に。1バスに最大4ノード（ホスト含む）。CANは1Mbps。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技術マニュアル（内部実装編）9.9節の比較表をベースにしている。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一つずつデモできるとベスト。仮想デバイスは講習にも便利。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serial_bridgeはkGraphicalモードでRXレートなどのバーは見られたが、中身の値や指令の送信はできなかった。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トピックの名前と型が同じなので、既存ノードの通信部分はほぼそのまま。ただしスロットの意味は変わるので次のスライドで説明。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同じ24スロットでも意味が違う。serial_bridgeはFWで固定、ros2canはノードごとに5スロット。インデックスを直書きしているコードは要修正。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トピック周りは同じ。変わるのはインクルードとsetServoの引数（ノード番号が増える）と、受信値の取り出し方。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段階的に移行できる。まずは仮想デバイスでノードを確認してから実機へ。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ros2canはポートを開いた直後にTIOCEXCLで排他専有する。ros2canが先に掴めばserial_bridgeは失敗してリトライするだけ。逆は防げないので、両方のexcluded_portsで管理下のポートを分けておく。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特に1つ目。serial_bridgeのときと同じく、FW側はフェイルセーフなし。ノード終了時のゼロ指令を必ず書く。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新規機体はros2canで。資料はGitHub Pagesのマニュアルとクイックスタート、ros2can講習資料を参照。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C1D247-16EB-E18B-C91A-8A8A84F6D4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C8EF692-2EE0-D6DB-389A-4FAA9D486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1D6C587-6DD3-05DA-A204-53DD8E8E7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365125"/>
          </a:xfrm>
        </p:spPr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B002EB-904F-4CEA-CADF-F5E0DBBF5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ECFC0B-B0DD-4523-1EC9-F025D88B6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371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579AEF-4E7C-ED37-5EA9-1DC7E3D21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6F3ABD-CDE6-6E00-BF9B-047B6ADF8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A7254F-760E-45C2-78EE-E70E77248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AF2616-0E36-4F53-CD06-93FE08809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18C036-B90B-0F85-89BA-54CE64AD3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223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4AA507-2FB7-546F-814C-4A1C74208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315DA0E-F142-2BBE-190D-5255C2C00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FF7DFE-2476-1E59-69D7-D1F19205C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BC7B36-421F-73C6-5463-76E9A6AE0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A2A7CA-E3EA-4404-081A-07B89424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9183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697F30-45AF-25E6-5A3E-A95AF98C5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9211B7-F7CF-5A06-F8F9-55E3DB08C4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456EB9B-828C-218C-A915-6A838FAAB1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245FEE2-C1CB-8EA0-9002-B1432AC24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6FEAD8C-6EE1-F9BF-F92B-098BD3D07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3AD94AE-954A-F497-265E-4C308A2A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9689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67EE21-8A4D-D745-1D42-74EDFF800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2CC70AB-A5A4-49B2-3BC9-787B8169D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D97D4A6-122F-9D1B-69FA-F706C97FEA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1DE0982-B4F7-ECFA-591F-89FBF89F2E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1921522-38F1-F7FC-C0A3-F651903F6A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A203241-B954-1126-5A3E-09DD27155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86CD0B2-EAFE-2BF4-C497-5B6F2B577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DA945BC-759C-C4C1-4978-CBC8862E6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6343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E4BB3F-9DED-D314-7704-823494893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D956715-9D1B-B43F-6FBC-907C3E215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0FD98C2-7913-13BB-5ADF-0A00AB8ED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AB633EA-620C-6DDB-54AC-5F1C605A3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4911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C766E37-50FF-E806-6613-642EA7444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8C42828-EA14-7DEC-6FA0-ACE7895DC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6101C4B-73D8-99C1-DA02-F319131D2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1435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52B953-8868-5B19-2C35-E170A9A3B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3B70D0-DD11-06D8-4E15-3A804C0EA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F812A24-C52D-93A7-9016-A886424D9B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150BFA1-13D9-0A9E-3782-76ADE44FF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D0D9597-7E26-83EC-AF24-DE5863E5B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74F15F0-074E-4473-6585-90FC09057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3349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73A893-FB27-B4F3-2D9E-E3B1BDBF8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4EC2060-304A-FAC1-1875-E7246B58CD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DE32873-C8F0-0F20-9ED9-168FC1864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A5B8F9E-0905-4D85-CE31-E6CB934FD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86A1FDE-71DE-89E8-B95B-94D894A3B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07CFA1B-DB81-8991-B1D7-6E4355B09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1708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148A88-8E9A-49C0-3075-4B7A4DE1A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AABDF43-9207-EAE8-45CF-032DCADF9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040A2E-6D30-9407-937D-1DB8B873D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139FB1-4A28-280A-EF0B-9DEC926D6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960C17-2AEA-C4A0-E757-303AAA20C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2362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024A0FD-2210-A691-13DA-677F881B0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04C7A7B-C4E0-DD68-3327-74DA3771A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7944CB-241F-41DA-FB61-E7FDB65E7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A52921-D26E-F9F9-F0FC-9FD443FFE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88D856-F717-F6DC-E313-BC536B8ED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61077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7BB161A-6234-7C02-059C-D3AE676F6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0C9F829-8192-70DC-85DA-8E1C49AEF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D9A6A1-72EC-FA32-C0A2-77E8F0AE27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7519F0-6940-8B04-61AE-FB7C31E711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4CD484-8D28-77F7-F415-29C4934FF9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8" name="図 7" descr="黒い背景に白い文字がある&#10;&#10;中程度の精度で自動的に生成された説明">
            <a:extLst>
              <a:ext uri="{FF2B5EF4-FFF2-40B4-BE49-F238E27FC236}">
                <a16:creationId xmlns:a16="http://schemas.microsoft.com/office/drawing/2014/main" id="{FF906BC4-088A-CAD4-0688-FDCCD3E37DB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783" y="136525"/>
            <a:ext cx="2659338" cy="744399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FDC60E9-6C06-B33B-180C-F0204CBC0AA1}"/>
              </a:ext>
            </a:extLst>
          </p:cNvPr>
          <p:cNvSpPr/>
          <p:nvPr userDrawn="1"/>
        </p:nvSpPr>
        <p:spPr>
          <a:xfrm rot="16745820">
            <a:off x="5751924" y="5728795"/>
            <a:ext cx="12496267" cy="1436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74BAA90-B259-5D7B-725A-60C1DC270EBE}"/>
              </a:ext>
            </a:extLst>
          </p:cNvPr>
          <p:cNvSpPr/>
          <p:nvPr userDrawn="1"/>
        </p:nvSpPr>
        <p:spPr>
          <a:xfrm rot="21324172">
            <a:off x="535422" y="6538809"/>
            <a:ext cx="12496267" cy="1053548"/>
          </a:xfrm>
          <a:prstGeom prst="rect">
            <a:avLst/>
          </a:prstGeom>
          <a:solidFill>
            <a:srgbClr val="CB1C14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平行四辺形 12">
            <a:extLst>
              <a:ext uri="{FF2B5EF4-FFF2-40B4-BE49-F238E27FC236}">
                <a16:creationId xmlns:a16="http://schemas.microsoft.com/office/drawing/2014/main" id="{B456FFD5-F931-135A-2222-1028B9A03666}"/>
              </a:ext>
            </a:extLst>
          </p:cNvPr>
          <p:cNvSpPr/>
          <p:nvPr userDrawn="1"/>
        </p:nvSpPr>
        <p:spPr>
          <a:xfrm rot="21289408">
            <a:off x="11089814" y="6116811"/>
            <a:ext cx="1757764" cy="1078055"/>
          </a:xfrm>
          <a:prstGeom prst="parallelogram">
            <a:avLst>
              <a:gd name="adj" fmla="val 2594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9263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554480"/>
            <a:ext cx="9326880" cy="1737360"/>
          </a:xfrm>
        </p:spPr>
        <p:txBody>
          <a:bodyPr anchor="b"/>
          <a:lstStyle/>
          <a:p>
            <a:pPr algn="l">
              <a:spcAft>
                <a:spcPts val="400"/>
              </a:spcAft>
            </a:pPr>
            <a:r>
              <a:rPr sz="4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serial_bridge から ros2can 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3429000"/>
            <a:ext cx="9326880" cy="1463040"/>
          </a:xfrm>
        </p:spPr>
        <p:txBody>
          <a:bodyPr anchor="t"/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serial_bridge を使ってきた人向け ros2can 紹介・移行ガイド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立命館大学 ロボット技術研究会 RRST NHKプロジェクト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310128"/>
            <a:ext cx="1097280" cy="64008"/>
          </a:xfrm>
          <a:prstGeom prst="rect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863840" cy="822960"/>
          </a:xfrm>
        </p:spPr>
        <p:txBody>
          <a:bodyPr anchor="ctr"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ひとことで言うと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serial_bridge → ros2can  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1325880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serial_bridge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25880"/>
            <a:ext cx="429768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ros2can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554480" cy="109728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配線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1783080"/>
            <a:ext cx="3566160" cy="10972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マイコンごとにUSBでPCへ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06440" y="2331720"/>
            <a:ext cx="548640" cy="0"/>
          </a:xfrm>
          <a:prstGeom prst="line">
            <a:avLst/>
          </a:prstGeom>
          <a:ln w="38100">
            <a:solidFill>
              <a:srgbClr val="CB1C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0" y="1783080"/>
            <a:ext cx="4297680" cy="1097280"/>
          </a:xfrm>
          <a:prstGeom prst="roundRect">
            <a:avLst>
              <a:gd name="adj" fmla="val 12000"/>
            </a:avLst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CANのデイジーチェーンでPCとはUSB1本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1554480" cy="109728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操作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60" y="3108960"/>
            <a:ext cx="3566160" cy="10972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ターミナルのログ表示のみ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06440" y="3657600"/>
            <a:ext cx="548640" cy="0"/>
          </a:xfrm>
          <a:prstGeom prst="line">
            <a:avLst/>
          </a:prstGeom>
          <a:ln w="38100">
            <a:solidFill>
              <a:srgbClr val="CB1C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0" y="3108960"/>
            <a:ext cx="4297680" cy="1097280"/>
          </a:xfrm>
          <a:prstGeom prst="roundRect">
            <a:avLst>
              <a:gd name="adj" fmla="val 12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GUIで送信・確認・FW書き込み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34840"/>
            <a:ext cx="1554480" cy="109728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互換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94560" y="4434840"/>
            <a:ext cx="3566160" cy="10972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serial_tx_[ID] / serial_rx_[ID]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06440" y="4983479"/>
            <a:ext cx="548640" cy="0"/>
          </a:xfrm>
          <a:prstGeom prst="line">
            <a:avLst/>
          </a:prstGeom>
          <a:ln w="38100">
            <a:solidFill>
              <a:srgbClr val="CB1C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00800" y="4434840"/>
            <a:ext cx="4297680" cy="1097280"/>
          </a:xfrm>
          <a:prstGeom prst="roundRect">
            <a:avLst>
              <a:gd name="adj" fmla="val 12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トピック・フレーム形式はそのまま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377440"/>
            <a:ext cx="9144000" cy="1188720"/>
          </a:xfrm>
        </p:spPr>
        <p:txBody>
          <a:bodyPr anchor="t"/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なぜ ros2can を作ったのか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566160"/>
            <a:ext cx="9144000" cy="914400"/>
          </a:xfrm>
        </p:spPr>
        <p:txBody>
          <a:bodyPr/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serial_bridge の運用で見えてきたこと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2743200" cy="10972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spcAft>
                <a:spcPts val="400"/>
              </a:spcAft>
            </a:pPr>
            <a:r>
              <a:rPr sz="72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serial_bridge → ros2can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863840" cy="822960"/>
          </a:xfrm>
        </p:spPr>
        <p:txBody>
          <a:bodyPr anchor="ctr"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開発背景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serial_bridge → ros2can   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148840"/>
            <a:ext cx="9601200" cy="0"/>
          </a:xfrm>
          <a:prstGeom prst="line">
            <a:avLst/>
          </a:prstGeom>
          <a:ln w="508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508760" y="1920240"/>
            <a:ext cx="457200" cy="457200"/>
          </a:xfrm>
          <a:prstGeom prst="ellipse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学ロボ25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UDP無線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2194560" cy="7315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電波干渉で会場で不安定</a:t>
            </a:r>
          </a:p>
        </p:txBody>
      </p:sp>
      <p:sp>
        <p:nvSpPr>
          <p:cNvPr id="9" name="Oval 8"/>
          <p:cNvSpPr/>
          <p:nvPr/>
        </p:nvSpPr>
        <p:spPr>
          <a:xfrm>
            <a:off x="4069080" y="1920240"/>
            <a:ext cx="457200" cy="457200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32588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学ロボ26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46888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serial_bridge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80360"/>
            <a:ext cx="2194560" cy="7315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有線シリアル。CANは開発コストが高く見送り</a:t>
            </a:r>
          </a:p>
        </p:txBody>
      </p:sp>
      <p:sp>
        <p:nvSpPr>
          <p:cNvPr id="13" name="Oval 12"/>
          <p:cNvSpPr/>
          <p:nvPr/>
        </p:nvSpPr>
        <p:spPr>
          <a:xfrm>
            <a:off x="6629399" y="1920240"/>
            <a:ext cx="457200" cy="457200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79" y="132588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運用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79" y="246888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見えた課題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19" y="2880360"/>
            <a:ext cx="2194560" cy="7315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台数分の配線、状態が見えない など</a:t>
            </a:r>
          </a:p>
        </p:txBody>
      </p:sp>
      <p:sp>
        <p:nvSpPr>
          <p:cNvPr id="17" name="Oval 16"/>
          <p:cNvSpPr/>
          <p:nvPr/>
        </p:nvSpPr>
        <p:spPr>
          <a:xfrm>
            <a:off x="9189719" y="1920240"/>
            <a:ext cx="457200" cy="45720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9" y="132588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現在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9" y="246888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ros2can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9" y="2880360"/>
            <a:ext cx="2194560" cy="7315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serial_bridgeを土台にCAN化＋GUI化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749039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serial_bridge で見えてきた課題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06240"/>
            <a:ext cx="2377440" cy="1600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297680"/>
            <a:ext cx="210312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配線が増える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709160"/>
            <a:ext cx="2103120" cy="10515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マイコン1台につきUSB1本。台数が増えるほどケーブルとUSBポートが増える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08960" y="4206240"/>
            <a:ext cx="2377440" cy="1600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6120" y="4297680"/>
            <a:ext cx="210312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状態が見えにくい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4709160"/>
            <a:ext cx="2103120" cy="10515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ターミナルのログのみ。指令送信やパラメータ確認は別ツールが必要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79" y="4206240"/>
            <a:ext cx="2377440" cy="1600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06440" y="4297680"/>
            <a:ext cx="210312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専用アクチュエータ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4709160"/>
            <a:ext cx="2103120" cy="10515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ロボマス・CubeMars を汎用出力の延長でしか扱えない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599" y="4206240"/>
            <a:ext cx="2377440" cy="1600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59" y="4297680"/>
            <a:ext cx="210312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実機がないと試せない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59" y="4709160"/>
            <a:ext cx="2103120" cy="10515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マイコンを繋がないと、ノードやトピック連携を確認できない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863840" cy="822960"/>
          </a:xfrm>
        </p:spPr>
        <p:txBody>
          <a:bodyPr anchor="ctr"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最大の目玉：配線がUSB1本になる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serial_bridge → ros2can  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4892040" cy="45262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457200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serial_bridge：星型配線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34640"/>
            <a:ext cx="1188720" cy="1280160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PC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920240"/>
            <a:ext cx="18288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マイコン ID=1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011680" y="2203704"/>
            <a:ext cx="1371600" cy="1271016"/>
          </a:xfrm>
          <a:prstGeom prst="line">
            <a:avLst/>
          </a:prstGeom>
          <a:ln w="2857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83280" y="2697480"/>
            <a:ext cx="18288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マイコン ID=2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011680" y="2980944"/>
            <a:ext cx="1371600" cy="493776"/>
          </a:xfrm>
          <a:prstGeom prst="line">
            <a:avLst/>
          </a:prstGeom>
          <a:ln w="2857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83280" y="3474720"/>
            <a:ext cx="18288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マイコン ID=3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11680" y="3474720"/>
            <a:ext cx="1371600" cy="283463"/>
          </a:xfrm>
          <a:prstGeom prst="line">
            <a:avLst/>
          </a:prstGeom>
          <a:ln w="2857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83280" y="4251960"/>
            <a:ext cx="18288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マイコン ID=4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011680" y="3474720"/>
            <a:ext cx="1371600" cy="1060704"/>
          </a:xfrm>
          <a:prstGeom prst="line">
            <a:avLst/>
          </a:prstGeom>
          <a:ln w="2857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011680" y="1874519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USB ×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74920"/>
            <a:ext cx="4572000" cy="7315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マイコンの台数分のUSBケーブルとポートが必要。台数が増えるほどPC周りの配線が増える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1325880"/>
            <a:ext cx="4983480" cy="4526280"/>
          </a:xfrm>
          <a:prstGeom prst="roundRect">
            <a:avLst>
              <a:gd name="adj" fmla="val 12000"/>
            </a:avLst>
          </a:prstGeom>
          <a:solidFill>
            <a:srgbClr val="F9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1417320"/>
            <a:ext cx="457200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ros2can：デイジーチェーン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1965960"/>
            <a:ext cx="1188720" cy="1005840"/>
          </a:xfrm>
          <a:prstGeom prst="roundRect">
            <a:avLst>
              <a:gd name="adj" fmla="val 12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PC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223760" y="2468880"/>
            <a:ext cx="1097280" cy="0"/>
          </a:xfrm>
          <a:prstGeom prst="line">
            <a:avLst/>
          </a:prstGeom>
          <a:ln w="4445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178040" y="2057400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USB ×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201168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CANホスト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ノード1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418320" y="2926080"/>
            <a:ext cx="0" cy="411480"/>
          </a:xfrm>
          <a:prstGeom prst="line">
            <a:avLst/>
          </a:prstGeom>
          <a:ln w="38100">
            <a:solidFill>
              <a:srgbClr val="CB1C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321040" y="3337560"/>
            <a:ext cx="21945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1C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ノード2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18320" y="3904487"/>
            <a:ext cx="0" cy="256033"/>
          </a:xfrm>
          <a:prstGeom prst="line">
            <a:avLst/>
          </a:prstGeom>
          <a:ln w="38100">
            <a:solidFill>
              <a:srgbClr val="CB1C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21040" y="4160520"/>
            <a:ext cx="21945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1C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ノード3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418320" y="4727448"/>
            <a:ext cx="0" cy="256032"/>
          </a:xfrm>
          <a:prstGeom prst="line">
            <a:avLst/>
          </a:prstGeom>
          <a:ln w="38100">
            <a:solidFill>
              <a:srgbClr val="CB1C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321040" y="4983480"/>
            <a:ext cx="21945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1C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ノード4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246120"/>
            <a:ext cx="2286000" cy="21031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電源 + CAN の</a:t>
            </a:r>
          </a:p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4ピンケーブル1本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で次の基板へ数珠つなぎ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台数が増えても</a:t>
            </a:r>
          </a:p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PC側の配線は増えない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863840" cy="822960"/>
          </a:xfrm>
        </p:spPr>
        <p:txBody>
          <a:bodyPr anchor="ctr"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数字で見る ros2can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serial_bridge → ros2can  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331720" cy="2286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2331720" cy="8229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ctr">
              <a:spcAft>
                <a:spcPts val="400"/>
              </a:spcAft>
            </a:pPr>
            <a:r>
              <a:rPr sz="38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4 →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41448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PCとのUSBケーブル
（4基板構成の場合）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1463040"/>
            <a:ext cx="2331720" cy="2286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600200"/>
            <a:ext cx="2331720" cy="8229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ctr">
              <a:spcAft>
                <a:spcPts val="400"/>
              </a:spcAft>
            </a:pPr>
            <a:r>
              <a:rPr sz="38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最大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441448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1バスあたりのノード数
（ホストを含む）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79" y="1463040"/>
            <a:ext cx="2331720" cy="2286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79" y="1600200"/>
            <a:ext cx="2331720" cy="8229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ctr">
              <a:spcAft>
                <a:spcPts val="400"/>
              </a:spcAft>
            </a:pPr>
            <a:r>
              <a:rPr sz="38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1 Mbps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79" y="2441448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CANバスの通信速度
（ロボマス等と共通）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599" y="1463040"/>
            <a:ext cx="2331720" cy="2286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9" y="1600200"/>
            <a:ext cx="2331720" cy="8229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ctr">
              <a:spcAft>
                <a:spcPts val="400"/>
              </a:spcAft>
            </a:pPr>
            <a:r>
              <a:rPr sz="38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4ピン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2441448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電源+CANを1本の
ケーブルで次の基板へ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80"/>
            <a:ext cx="10149840" cy="1691640"/>
          </a:xfrm>
          <a:prstGeom prst="roundRect">
            <a:avLst>
              <a:gd name="adj" fmla="val 12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160520"/>
            <a:ext cx="9601200" cy="150876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8A80"/>
                </a:solidFill>
                <a:latin typeface="MS PGothic"/>
                <a:ea typeface="MS PGothic"/>
                <a:cs typeface="MS PGothic"/>
              </a:rPr>
              <a:t>USBが減ると何がうれしいか</a:t>
            </a:r>
          </a:p>
          <a:p>
            <a:pPr algn="l" marL="201168" indent="-201168">
              <a:spcAft>
                <a:spcPts val="400"/>
              </a:spcAft>
              <a:buClr>
                <a:srgbClr val="CB1C14"/>
              </a:buClr>
              <a:buFont typeface="Arial"/>
              <a:buChar char="•"/>
            </a:pPr>
            <a:r>
              <a:rPr sz="1400" b="0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PCのUSBポートやハブの数に縛られにくくなる</a:t>
            </a:r>
          </a:p>
          <a:p>
            <a:pPr algn="l" marL="201168" indent="-201168">
              <a:spcAft>
                <a:spcPts val="400"/>
              </a:spcAft>
              <a:buClr>
                <a:srgbClr val="CB1C14"/>
              </a:buClr>
              <a:buFont typeface="Arial"/>
              <a:buChar char="•"/>
            </a:pPr>
            <a:r>
              <a:rPr sz="1400" b="0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機体内の長いUSBケーブルの取り回しが減り、配線がシンプルになる</a:t>
            </a:r>
          </a:p>
          <a:p>
            <a:pPr algn="l" marL="201168" indent="-201168">
              <a:spcAft>
                <a:spcPts val="400"/>
              </a:spcAft>
              <a:buClr>
                <a:srgbClr val="CB1C14"/>
              </a:buClr>
              <a:buFont typeface="Arial"/>
              <a:buChar char="•"/>
            </a:pPr>
            <a:r>
              <a:rPr sz="1400" b="0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基板を増やすときは、デイジーチェーンの末尾に足すだけ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377440"/>
            <a:ext cx="9144000" cy="1188720"/>
          </a:xfrm>
        </p:spPr>
        <p:txBody>
          <a:bodyPr anchor="t"/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何が変わるのか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566160"/>
            <a:ext cx="9144000" cy="914400"/>
          </a:xfrm>
        </p:spPr>
        <p:txBody>
          <a:bodyPr/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比較表と新機能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2743200" cy="10972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spcAft>
                <a:spcPts val="400"/>
              </a:spcAft>
            </a:pPr>
            <a:r>
              <a:rPr sz="72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serial_bridge → ros2can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863840" cy="822960"/>
          </a:xfrm>
        </p:spPr>
        <p:txBody>
          <a:bodyPr anchor="ctr"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serial_bridge と ros2can の比較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serial_bridge → ros2can   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0149840" cy="42976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3657600"/>
                <a:gridCol w="4297680"/>
              </a:tblGrid>
              <a:tr h="429768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観点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serial_bridge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ros2can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配線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マイコン1台＝USB1本の星型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CANホスト（USB1本）＋CANデイジーチェーン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UI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ターミナルのみ（テキスト / ASCIIバー / なし）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PyQt5 GUI（Control / Monitor / Raw / Info）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スロットの意味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FWごとに固定（1〜8 = DCモータ 等）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プロファイルで可変、CANノードへ分配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エンコーダ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生のパルス値をそのままPublish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オーバーフロー展開・原点セット（_unwrapped / _zeroed）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実機なしの確認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なし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仮想デバイスで確認できる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ロボマス / CubeMars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汎用のロボマスモードのみ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専用ドライバ（MITモード等）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FWの設定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config.hpp を手で編集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GUIで生成・書き込み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ポート専有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排他フラグなし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TIOCEXCL で排他専有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実装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C++（rclcpp）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Python（rclpy + PyQt5）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863840" cy="822960"/>
          </a:xfrm>
        </p:spPr>
        <p:txBody>
          <a:bodyPr anchor="ctr"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ros2canの新機能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serial_bridge → ros2can   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200400" cy="20116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572768"/>
            <a:ext cx="457200" cy="45720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2331720" cy="50292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GUIで直接操作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834640" cy="11430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4タブで指令送信とセンサ確認。ダイレクト送信は既定OFF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1371600"/>
            <a:ext cx="3200400" cy="20116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160520" y="1572768"/>
            <a:ext cx="457200" cy="45720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1554480"/>
            <a:ext cx="2331720" cy="50292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仮想デバイス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194560"/>
            <a:ext cx="2834640" cy="11430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実機なしでUI・トピック連携を確認。rqtや自作ノードのテストにも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371600"/>
            <a:ext cx="3200400" cy="20116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89519" y="1572768"/>
            <a:ext cx="457200" cy="45720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1554480"/>
            <a:ext cx="2331720" cy="50292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エンコーダ処理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2194560"/>
            <a:ext cx="2834640" cy="11430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オーバーフロー展開と原点セット。_unwrapped / _zeroed を配信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11880"/>
            <a:ext cx="3200400" cy="20116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3813048"/>
            <a:ext cx="457200" cy="45720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794760"/>
            <a:ext cx="2331720" cy="50292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ロボマス・CubeMars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34840"/>
            <a:ext cx="2834640" cy="11430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専用モードで直接制御。MITモードでKp/Kdを毎周期変更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77639" y="3611880"/>
            <a:ext cx="3200400" cy="20116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60520" y="3813048"/>
            <a:ext cx="457200" cy="45720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3794760"/>
            <a:ext cx="2331720" cy="50292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FW生成・書き込み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4434840"/>
            <a:ext cx="2834640" cy="11430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設定をGUIで入力 → generated_firmware に生成 → そのまま書き込み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3611880"/>
            <a:ext cx="3200400" cy="20116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89519" y="3813048"/>
            <a:ext cx="457200" cy="45720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3794760"/>
            <a:ext cx="2331720" cy="50292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安全機能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19" y="4434840"/>
            <a:ext cx="2834640" cy="11430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全デバイスE-STOP、閉じるとゼロ指令、全ゼロで安全停止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863840" cy="822960"/>
          </a:xfrm>
        </p:spPr>
        <p:txBody>
          <a:bodyPr anchor="ctr"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状態確認：ターミナルからGUIへ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serial_bridge → ros2can 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365760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serial_bridge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3657600" cy="2743200"/>
          </a:xfrm>
          <a:prstGeom prst="roundRect">
            <a:avLst>
              <a:gd name="adj" fmla="val 4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6" bIns="128016" wrap="square"/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[ID 6] /dev/ttyUSB0  RX 49.8Hz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 ██████████████░░░░░  72%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[ID 7] /dev/ttyUSB1  RX 49.9Hz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 ████████████████░░░  81%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17720"/>
            <a:ext cx="3657600" cy="11887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 marL="201168" indent="-201168">
              <a:spcAft>
                <a:spcPts val="400"/>
              </a:spcAft>
              <a:buClr>
                <a:srgbClr val="CB1C14"/>
              </a:buClr>
              <a:buFont typeface="Arial"/>
              <a:buChar char="•"/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ログやバーグラフで通信状態がわかる</a:t>
            </a:r>
          </a:p>
          <a:p>
            <a:pPr algn="l" marL="201168" indent="-201168">
              <a:spcAft>
                <a:spcPts val="400"/>
              </a:spcAft>
              <a:buClr>
                <a:srgbClr val="CB1C14"/>
              </a:buClr>
              <a:buFont typeface="Arial"/>
              <a:buChar char="•"/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値の確認・指令送信は ros2 topic など別ツール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53212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※ 表示はイメージ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389120" y="3154680"/>
            <a:ext cx="548640" cy="0"/>
          </a:xfrm>
          <a:prstGeom prst="line">
            <a:avLst/>
          </a:prstGeom>
          <a:ln w="38100">
            <a:solidFill>
              <a:srgbClr val="CB1C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20640" y="1325880"/>
            <a:ext cx="557784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ros2can</a:t>
            </a:r>
          </a:p>
        </p:txBody>
      </p:sp>
      <p:pic>
        <p:nvPicPr>
          <p:cNvPr id="10" name="Picture 9" descr="03_control_t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783080"/>
            <a:ext cx="5577840" cy="3377884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120640" y="5257800"/>
            <a:ext cx="5577840" cy="5486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指令送信・センサ値・生データ・通信状態をすべてGUIで確認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377440"/>
            <a:ext cx="9144000" cy="1188720"/>
          </a:xfrm>
        </p:spPr>
        <p:txBody>
          <a:bodyPr anchor="t"/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何が変わらないのか・どう移行するか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566160"/>
            <a:ext cx="9144000" cy="914400"/>
          </a:xfrm>
        </p:spPr>
        <p:txBody>
          <a:bodyPr/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トピック互換と、気をつけるポイント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2743200" cy="10972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spcAft>
                <a:spcPts val="400"/>
              </a:spcAft>
            </a:pPr>
            <a:r>
              <a:rPr sz="72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serial_bridge → ros2can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863840" cy="822960"/>
          </a:xfrm>
        </p:spPr>
        <p:txBody>
          <a:bodyPr anchor="ctr"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そのまま使えるもの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serial_bridge → ros2can  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1554480" cy="768096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トピック名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444752"/>
            <a:ext cx="3108960" cy="768096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1F1F"/>
                </a:solidFill>
                <a:latin typeface="MS Gothic"/>
                <a:ea typeface="MS Gothic"/>
                <a:cs typeface="MS Gothic"/>
              </a:rPr>
              <a:t>serial_tx_[ID] / serial_rx_[ID]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0" y="1371600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444752"/>
            <a:ext cx="1554480" cy="768096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メッセージ型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1444752"/>
            <a:ext cx="3108960" cy="768096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1F1F"/>
                </a:solidFill>
                <a:latin typeface="MS Gothic"/>
                <a:ea typeface="MS Gothic"/>
                <a:cs typeface="MS Gothic"/>
              </a:rPr>
              <a:t>std_msgs/msg/Int16MultiArray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68880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42032"/>
            <a:ext cx="1554480" cy="768096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データ長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542032"/>
            <a:ext cx="3108960" cy="768096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1F1F"/>
                </a:solidFill>
                <a:latin typeface="MS Gothic"/>
                <a:ea typeface="MS Gothic"/>
                <a:cs typeface="MS Gothic"/>
              </a:rPr>
              <a:t>24 × int16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2468880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80" y="2542032"/>
            <a:ext cx="1554480" cy="768096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フレーム形式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542032"/>
            <a:ext cx="3108960" cy="768096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0xAA｜ID｜LEN｜DATA｜XOR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66160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639312"/>
            <a:ext cx="1554480" cy="768096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ID方式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639312"/>
            <a:ext cx="3108960" cy="768096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DEVICE_ID で識別（ポート順に非依存）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0" y="3566160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97880" y="3639312"/>
            <a:ext cx="1554480" cy="768096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スキャン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639312"/>
            <a:ext cx="3108960" cy="768096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自動スキャン・ホットプラグ・excluded_ports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754880"/>
            <a:ext cx="10149840" cy="1005840"/>
          </a:xfrm>
          <a:prstGeom prst="roundRect">
            <a:avLst>
              <a:gd name="adj" fmla="val 12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800600"/>
            <a:ext cx="9601200" cy="9144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→ 既存ノードの「publish / subscribe する部分」はほぼそのまま流用できます。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D9D9D9"/>
                </a:solidFill>
                <a:latin typeface="MS PGothic"/>
                <a:ea typeface="MS PGothic"/>
                <a:cs typeface="MS PGothic"/>
              </a:rPr>
              <a:t>変わるのは「どのスロットが何を意味するか」だけ（次のスライド）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863840" cy="822960"/>
          </a:xfrm>
        </p:spPr>
        <p:txBody>
          <a:bodyPr anchor="ctr"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注意：スロットの意味が変わる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serial_bridge → ros2can  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14984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serial_bridge（esp32_serial_bridge の例）：FWごとに固定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83080"/>
            <a:ext cx="386334" cy="50292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989838" y="1783080"/>
            <a:ext cx="386334" cy="502920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2748" y="1783080"/>
            <a:ext cx="386334" cy="502920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1835657" y="1783080"/>
            <a:ext cx="386334" cy="502920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2258568" y="1783080"/>
            <a:ext cx="386334" cy="502920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81478" y="1783080"/>
            <a:ext cx="386334" cy="502920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4388" y="1783080"/>
            <a:ext cx="386334" cy="502920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7298" y="1783080"/>
            <a:ext cx="386334" cy="502920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50207" y="1783080"/>
            <a:ext cx="386334" cy="502920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3117" y="1783080"/>
            <a:ext cx="386334" cy="50292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6027" y="1783080"/>
            <a:ext cx="386334" cy="50292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8937" y="1783080"/>
            <a:ext cx="386334" cy="50292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41847" y="1783080"/>
            <a:ext cx="386334" cy="50292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64757" y="1783080"/>
            <a:ext cx="386334" cy="50292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87667" y="1783080"/>
            <a:ext cx="386334" cy="50292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10577" y="1783080"/>
            <a:ext cx="386334" cy="50292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33488" y="1783080"/>
            <a:ext cx="386334" cy="50292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56398" y="1783080"/>
            <a:ext cx="386334" cy="50292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17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79307" y="1783080"/>
            <a:ext cx="386334" cy="50292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18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02217" y="1783080"/>
            <a:ext cx="386334" cy="50292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19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25128" y="1783080"/>
            <a:ext cx="386334" cy="50292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20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48037" y="1783080"/>
            <a:ext cx="386334" cy="50292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21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70947" y="1783080"/>
            <a:ext cx="386334" cy="50292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22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93857" y="1783080"/>
            <a:ext cx="386334" cy="50292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304288"/>
            <a:ext cx="422909" cy="3200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DBG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550" y="2304288"/>
            <a:ext cx="3383279" cy="3200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MD1〜8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54829" y="2304288"/>
            <a:ext cx="3383279" cy="3200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SERVO1〜8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38110" y="2304288"/>
            <a:ext cx="2960370" cy="3200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TR1〜7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743200"/>
            <a:ext cx="1014984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ros2can（既定プロファイル）：ノードごとに5スロット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3154680"/>
            <a:ext cx="386334" cy="502920"/>
          </a:xfrm>
          <a:prstGeom prst="rect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9838" y="3154680"/>
            <a:ext cx="386334" cy="502920"/>
          </a:xfrm>
          <a:prstGeom prst="rect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12748" y="3154680"/>
            <a:ext cx="386334" cy="502920"/>
          </a:xfrm>
          <a:prstGeom prst="rect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35657" y="3154680"/>
            <a:ext cx="386334" cy="502920"/>
          </a:xfrm>
          <a:prstGeom prst="rect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58568" y="3154680"/>
            <a:ext cx="386334" cy="502920"/>
          </a:xfrm>
          <a:prstGeom prst="rect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81478" y="3154680"/>
            <a:ext cx="386334" cy="502920"/>
          </a:xfrm>
          <a:prstGeom prst="rect">
            <a:avLst/>
          </a:prstGeom>
          <a:solidFill>
            <a:srgbClr val="E0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04388" y="3154680"/>
            <a:ext cx="386334" cy="502920"/>
          </a:xfrm>
          <a:prstGeom prst="rect">
            <a:avLst/>
          </a:prstGeom>
          <a:solidFill>
            <a:srgbClr val="E0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7298" y="3154680"/>
            <a:ext cx="386334" cy="502920"/>
          </a:xfrm>
          <a:prstGeom prst="rect">
            <a:avLst/>
          </a:prstGeom>
          <a:solidFill>
            <a:srgbClr val="E0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50207" y="3154680"/>
            <a:ext cx="386334" cy="502920"/>
          </a:xfrm>
          <a:prstGeom prst="rect">
            <a:avLst/>
          </a:prstGeom>
          <a:solidFill>
            <a:srgbClr val="E0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73117" y="3154680"/>
            <a:ext cx="386334" cy="502920"/>
          </a:xfrm>
          <a:prstGeom prst="rect">
            <a:avLst/>
          </a:prstGeom>
          <a:solidFill>
            <a:srgbClr val="E0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96027" y="3154680"/>
            <a:ext cx="386334" cy="502920"/>
          </a:xfrm>
          <a:prstGeom prst="rect">
            <a:avLst/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18937" y="3154680"/>
            <a:ext cx="386334" cy="502920"/>
          </a:xfrm>
          <a:prstGeom prst="rect">
            <a:avLst/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41847" y="3154680"/>
            <a:ext cx="386334" cy="502920"/>
          </a:xfrm>
          <a:prstGeom prst="rect">
            <a:avLst/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64757" y="3154680"/>
            <a:ext cx="386334" cy="502920"/>
          </a:xfrm>
          <a:prstGeom prst="rect">
            <a:avLst/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87667" y="3154680"/>
            <a:ext cx="386334" cy="502920"/>
          </a:xfrm>
          <a:prstGeom prst="rect">
            <a:avLst/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10577" y="3154680"/>
            <a:ext cx="386334" cy="502920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33488" y="3154680"/>
            <a:ext cx="386334" cy="502920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56398" y="3154680"/>
            <a:ext cx="386334" cy="502920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79307" y="3154680"/>
            <a:ext cx="386334" cy="502920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02217" y="3154680"/>
            <a:ext cx="386334" cy="502920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25128" y="3154680"/>
            <a:ext cx="386334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20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48037" y="3154680"/>
            <a:ext cx="386334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21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870947" y="3154680"/>
            <a:ext cx="386334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22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293857" y="3154680"/>
            <a:ext cx="386334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23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3675887"/>
            <a:ext cx="2114550" cy="3200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ノード1：SERVO / SW・ENC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63190" y="3675887"/>
            <a:ext cx="2114550" cy="3200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ノード2：SERVO / SW・ENC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77740" y="3675887"/>
            <a:ext cx="2114550" cy="3200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ノード3：SERVO / SW・ENC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92289" y="3675887"/>
            <a:ext cx="2114550" cy="3200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ノード4：SERVO / SW・ENC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06840" y="3675887"/>
            <a:ext cx="1691639" cy="3200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未使用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48640" y="4251960"/>
            <a:ext cx="4937760" cy="1554480"/>
          </a:xfrm>
          <a:prstGeom prst="roundRect">
            <a:avLst>
              <a:gd name="adj" fmla="val 12000"/>
            </a:avLst>
          </a:prstGeom>
          <a:solidFill>
            <a:srgbClr val="F9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77240" y="4315968"/>
            <a:ext cx="4572000" cy="1417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インデックス直書きは要修正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例：serial_bridge の data[9] は SERVO1 だが、ros2can ではノード2の予備スロット（受信ではENC2）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760720" y="4251960"/>
            <a:ext cx="4937760" cy="15544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89320" y="4315968"/>
            <a:ext cx="4572000" cy="1417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ラッパーで吸収する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1F1F"/>
                </a:solidFill>
                <a:latin typeface="MS Gothic"/>
                <a:ea typeface="MS Gothic"/>
                <a:cs typeface="MS Gothic"/>
              </a:rPr>
              <a:t>PacketController</a:t>
            </a:r>
            <a:r>
              <a:rPr sz="12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 → </a:t>
            </a:r>
            <a:r>
              <a:rPr sz="1250" b="0" i="0">
                <a:solidFill>
                  <a:srgbClr val="1F1F1F"/>
                </a:solidFill>
                <a:latin typeface="MS Gothic"/>
                <a:ea typeface="MS Gothic"/>
                <a:cs typeface="MS Gothic"/>
              </a:rPr>
              <a:t>Ros2CanPacketController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global index = node × 5 + local をライブラリが計算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863840" cy="822960"/>
          </a:xfrm>
        </p:spPr>
        <p:txBody>
          <a:bodyPr anchor="ctr"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コードの移行例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serial_bridge → ros2can  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serial_bridge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4937760" cy="3246120"/>
          </a:xfrm>
          <a:prstGeom prst="roundRect">
            <a:avLst>
              <a:gd name="adj" fmla="val 4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6" bIns="128016" wrap="square"/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#include "common/PacketController.hpp"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PacketController pkt;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pub_ = create_publisher&lt;Int16MultiArray&gt;(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   "serial_tx_3", 10);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pkt.setServo(SERVO2, 90);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msg.data = pkt.toVector();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// 受信：インデックスを直接読む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int16_t enc1 = m-&gt;data[1];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bool    sw1  = m-&gt;data[9];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532120" y="3337560"/>
            <a:ext cx="228600" cy="0"/>
          </a:xfrm>
          <a:prstGeom prst="line">
            <a:avLst/>
          </a:prstGeom>
          <a:ln w="38100">
            <a:solidFill>
              <a:srgbClr val="CB1C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06440" y="132588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ros2can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737360"/>
            <a:ext cx="4937760" cy="3246120"/>
          </a:xfrm>
          <a:prstGeom prst="roundRect">
            <a:avLst>
              <a:gd name="adj" fmla="val 4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6" bIns="128016" wrap="square"/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#include "common/Ros2CanPacketController.hpp"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Ros2CanPacketController pkt;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pub_ = create_publisher&lt;Int16MultiArray&gt;(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   "serial_tx_1", 10);   </a:t>
            </a:r>
            <a:r>
              <a:rPr sz="115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// 同じ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pkt.setServo(/*node*/0, 2, 90);  </a:t>
            </a:r>
            <a:r>
              <a:rPr sz="115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// ノード番号が増える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msg.data = pkt.toVector();       </a:t>
            </a:r>
            <a:r>
              <a:rPr sz="115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// 同じ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// 受信：ラッパー経由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pkt.updateRx(m-&gt;data);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int16_t enc1 = pkt.getEnc(0, 1);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bool    sw1  = pkt.getSW(0, 1);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66360"/>
            <a:ext cx="10149840" cy="6400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サンプル：</a:t>
            </a:r>
            <a:r>
              <a:rPr sz="1250" b="0" i="0">
                <a:solidFill>
                  <a:srgbClr val="595959"/>
                </a:solidFill>
                <a:latin typeface="MS Gothic"/>
                <a:ea typeface="MS Gothic"/>
                <a:cs typeface="MS Gothic"/>
              </a:rPr>
              <a:t>ros2can_example</a:t>
            </a: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（servo_sweep_example / cubemars_position_example）、PS4での操作例は </a:t>
            </a:r>
            <a:r>
              <a:rPr sz="1250" b="0" i="0">
                <a:solidFill>
                  <a:srgbClr val="595959"/>
                </a:solidFill>
                <a:latin typeface="MS Gothic"/>
                <a:ea typeface="MS Gothic"/>
                <a:cs typeface="MS Gothic"/>
              </a:rPr>
              <a:t>cr26_soki/ros2can_practice.cpp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863840" cy="822960"/>
          </a:xfrm>
        </p:spPr>
        <p:txBody>
          <a:bodyPr anchor="ctr"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移行の手順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serial_bridge → ros2can   15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53312"/>
            <a:ext cx="9326880" cy="384048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ros2can をビルドして起動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737360"/>
            <a:ext cx="932688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sudo apt install python3-pyqt5 python3-serial → colcon build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00100" y="1920240"/>
            <a:ext cx="0" cy="338328"/>
          </a:xfrm>
          <a:prstGeom prst="line">
            <a:avLst/>
          </a:prstGeom>
          <a:ln w="254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48640" y="2304287"/>
            <a:ext cx="502920" cy="50292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240279"/>
            <a:ext cx="9326880" cy="384048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仮想デバイスで既存ノードを確認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24327"/>
            <a:ext cx="932688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「デバッグデバイスを追加」→ 自作ノードの publish / subscribe を確認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0100" y="2807208"/>
            <a:ext cx="0" cy="338327"/>
          </a:xfrm>
          <a:prstGeom prst="line">
            <a:avLst/>
          </a:prstGeom>
          <a:ln w="254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48640" y="3191256"/>
            <a:ext cx="502920" cy="50292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127248"/>
            <a:ext cx="9326880" cy="384048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ノードのスロット処理を書き換え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511296"/>
            <a:ext cx="932688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PacketController → Ros2CanPacketController（インデックス直書きを解消）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0100" y="3694176"/>
            <a:ext cx="0" cy="338328"/>
          </a:xfrm>
          <a:prstGeom prst="line">
            <a:avLst/>
          </a:prstGeom>
          <a:ln w="254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48640" y="4078224"/>
            <a:ext cx="502920" cy="50292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014216"/>
            <a:ext cx="9326880" cy="384048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FWを生成して基板に書き込む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398264"/>
            <a:ext cx="932688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ホストは MODE_CAN_HOST、子は MODE_CAN。CAN_ID は 101〜104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00100" y="4581144"/>
            <a:ext cx="0" cy="338328"/>
          </a:xfrm>
          <a:prstGeom prst="line">
            <a:avLst/>
          </a:prstGeom>
          <a:ln w="254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48640" y="4965192"/>
            <a:ext cx="502920" cy="50292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901184"/>
            <a:ext cx="9326880" cy="384048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配線してテスト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285232"/>
            <a:ext cx="932688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USBはホストだけ。バス両端の終端抵抗を確認 → ダイレクト送信OFFのまま疎通確認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863840" cy="822960"/>
          </a:xfrm>
        </p:spPr>
        <p:txBody>
          <a:bodyPr anchor="ctr"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移行期間中の併用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serial_bridge → ros2can   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377440" cy="11887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serial_bridge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既存マイコン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017520"/>
            <a:ext cx="2377440" cy="1188720"/>
          </a:xfrm>
          <a:prstGeom prst="roundRect">
            <a:avLst>
              <a:gd name="adj" fmla="val 12000"/>
            </a:avLst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ros2can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CANホスト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1463040"/>
            <a:ext cx="210312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F1F1F"/>
                </a:solidFill>
                <a:latin typeface="MS Gothic"/>
                <a:ea typeface="MS Gothic"/>
                <a:cs typeface="MS Gothic"/>
              </a:rPr>
              <a:t>/dev/ttyUSB0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2926080" y="1783080"/>
            <a:ext cx="822959" cy="182880"/>
          </a:xfrm>
          <a:prstGeom prst="line">
            <a:avLst/>
          </a:prstGeom>
          <a:ln w="22225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749039" y="2423160"/>
            <a:ext cx="210312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F1F1F"/>
                </a:solidFill>
                <a:latin typeface="MS Gothic"/>
                <a:ea typeface="MS Gothic"/>
                <a:cs typeface="MS Gothic"/>
              </a:rPr>
              <a:t>/dev/ttyUSB1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26080" y="1965960"/>
            <a:ext cx="822959" cy="777240"/>
          </a:xfrm>
          <a:prstGeom prst="line">
            <a:avLst/>
          </a:prstGeom>
          <a:ln w="22225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49039" y="3383280"/>
            <a:ext cx="210312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1C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F1F1F"/>
                </a:solidFill>
                <a:latin typeface="MS Gothic"/>
                <a:ea typeface="MS Gothic"/>
                <a:cs typeface="MS Gothic"/>
              </a:rPr>
              <a:t>/dev/ttyACM0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26080" y="3611880"/>
            <a:ext cx="822959" cy="91440"/>
          </a:xfrm>
          <a:prstGeom prst="line">
            <a:avLst/>
          </a:prstGeom>
          <a:ln w="22225">
            <a:solidFill>
              <a:srgbClr val="CB1C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4434840"/>
            <a:ext cx="5486400" cy="13716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 marL="201168" indent="-201168">
              <a:spcAft>
                <a:spcPts val="600"/>
              </a:spcAft>
              <a:buClr>
                <a:srgbClr val="CB1C14"/>
              </a:buClr>
              <a:buFont typeface="Arial"/>
              <a:buChar char="•"/>
            </a:pPr>
            <a:r>
              <a:rPr sz="12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ros2can は </a:t>
            </a:r>
            <a:r>
              <a:rPr sz="1250" b="1" i="0">
                <a:solidFill>
                  <a:srgbClr val="1F1F1F"/>
                </a:solidFill>
                <a:latin typeface="MS Gothic"/>
                <a:ea typeface="MS Gothic"/>
                <a:cs typeface="MS Gothic"/>
              </a:rPr>
              <a:t>TIOCEXCL</a:t>
            </a:r>
            <a:r>
              <a:rPr sz="12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 でポートを排他専有</a:t>
            </a:r>
          </a:p>
          <a:p>
            <a:pPr algn="l" marL="201168" indent="-201168">
              <a:spcAft>
                <a:spcPts val="600"/>
              </a:spcAft>
              <a:buClr>
                <a:srgbClr val="CB1C14"/>
              </a:buClr>
              <a:buFont typeface="Arial"/>
              <a:buChar char="•"/>
            </a:pPr>
            <a:r>
              <a:rPr sz="12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ros2can が先に掴めば、serial_bridge 側は open に失敗してリトライするだけ</a:t>
            </a:r>
          </a:p>
          <a:p>
            <a:pPr algn="l" marL="201168" indent="-201168">
              <a:spcAft>
                <a:spcPts val="600"/>
              </a:spcAft>
              <a:buClr>
                <a:srgbClr val="CB1C14"/>
              </a:buClr>
              <a:buFont typeface="Arial"/>
              <a:buChar char="•"/>
            </a:pPr>
            <a:r>
              <a:rPr sz="12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逆（serial_bridge が先）は防げない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4389120" cy="44348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463040"/>
            <a:ext cx="402336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対策：excluded_ports で分ける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1965960"/>
            <a:ext cx="3931920" cy="1325880"/>
          </a:xfrm>
          <a:prstGeom prst="roundRect">
            <a:avLst>
              <a:gd name="adj" fmla="val 4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6" bIns="128016"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# config/ros2can.yaml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excluded_ports: ["/dev/ttyUSB0",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                "/dev/ttyUSB1"]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3429000"/>
            <a:ext cx="3931920" cy="1097280"/>
          </a:xfrm>
          <a:prstGeom prst="roundRect">
            <a:avLst>
              <a:gd name="adj" fmla="val 4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6" bIns="128016"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# config/serial_bridge.yaml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excluded_ports: ["/dev/ttyACM0"]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61772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お互いに相手が管理するポートを除外しておくと、取り合いが起きません。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863840" cy="822960"/>
          </a:xfrm>
        </p:spPr>
        <p:txBody>
          <a:bodyPr anchor="ctr"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移行時に気をつけること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serial_bridge → ros2can   17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0149840" cy="749808"/>
          </a:xfrm>
          <a:prstGeom prst="roundRect">
            <a:avLst>
              <a:gd name="adj" fmla="val 12000"/>
            </a:avLst>
          </a:prstGeom>
          <a:solidFill>
            <a:srgbClr val="F9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527048"/>
            <a:ext cx="438912" cy="438912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17320"/>
            <a:ext cx="2743200" cy="658368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フェイルセーフはFWに無い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1417320"/>
            <a:ext cx="6537960" cy="658368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通信が途切れてもマイコンは最後の指令を保持。終了時のゼロ指令（on_shutdown）は必須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58568"/>
            <a:ext cx="10149840" cy="74980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3232" y="2414015"/>
            <a:ext cx="438912" cy="438912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304287"/>
            <a:ext cx="2743200" cy="658368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ダイレクト送信とトピック通過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304287"/>
            <a:ext cx="6537960" cy="658368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ダイレクト送信ONのデバイスは外部ノードの serial_tx_[ID] を無視する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45536"/>
            <a:ext cx="10149840" cy="74980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3300984"/>
            <a:ext cx="438912" cy="438912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191256"/>
            <a:ext cx="2743200" cy="658368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ピン共有の設定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3191256"/>
            <a:ext cx="6537960" cy="658368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MULTIn（サーボ/SW）・ENCn_MD（ENC/MD）は config.hpp で固定。実配線と一致させる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32504"/>
            <a:ext cx="10149840" cy="74980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3232" y="4187952"/>
            <a:ext cx="438912" cy="438912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078224"/>
            <a:ext cx="2743200" cy="658368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終端抵抗とCAN_ID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4078224"/>
            <a:ext cx="6537960" cy="658368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バスの両端に120Ω。CAN_ID（101〜104、下2桁＝ノード番号）を重複させない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19472"/>
            <a:ext cx="10149840" cy="74980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5074920"/>
            <a:ext cx="438912" cy="438912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965192"/>
            <a:ext cx="2743200" cy="658368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DCモータの数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4965192"/>
            <a:ext cx="6537960" cy="658368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既定プロファイル（SOKI基板）はDCモータ非搭載。MDが必要なら ENCn_MD=1 か MES基板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863840" cy="822960"/>
          </a:xfrm>
        </p:spPr>
        <p:txBody>
          <a:bodyPr anchor="ctr"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serial_bridge → ros2can  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035040" cy="1005840"/>
          </a:xfrm>
          <a:prstGeom prst="roundRect">
            <a:avLst>
              <a:gd name="adj" fmla="val 12000"/>
            </a:avLst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44752"/>
            <a:ext cx="2194560" cy="859536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配線がシンプルに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444752"/>
            <a:ext cx="3474720" cy="859536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USB1本＋CANデイジーチェーン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6035040" cy="10058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33472"/>
            <a:ext cx="2194560" cy="859536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操作・確認がGUIで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633472"/>
            <a:ext cx="3474720" cy="859536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仮想デバイス・FW生成・E-STOPまでGUIで完結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49039"/>
            <a:ext cx="6035040" cy="10058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822191"/>
            <a:ext cx="2194560" cy="859536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移行は段階的に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822191"/>
            <a:ext cx="3474720" cy="859536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トピック互換。スロットの意味だけ Ros2CanPacketController で吸収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371600"/>
            <a:ext cx="3749039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参考資料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874519"/>
            <a:ext cx="3749039" cy="39319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ros2can マニュアル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rrst-nhk-project.github.io/ros2can/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serial_bridge との比較（1.1節）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マニュアル 1.1 / 技術マニュアル 9.9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serial_bridge との併用（3.1節）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マニュアル 3.1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GitHub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github.com/RRST-NHK-Project/ros2can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74920"/>
            <a:ext cx="6035040" cy="73152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新規の機体では ros2can の採用を強く推奨します。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S PGothic"/>
        <a:ea typeface="MS PGothic"/>
        <a:cs typeface=""/>
        <a:font script="Jpan" typeface="MS PGothic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S PGothic"/>
        <a:ea typeface="MS PGothic"/>
        <a:cs typeface=""/>
        <a:font script="Jpan" typeface="MS P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プレゼンテーション1" id="{7531F1DA-E5ED-4977-9D2C-CB9870891181}" vid="{35052030-CB63-452C-8C6E-2B56BD0C9A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松枝 勇樹(rr0163fx)</dc:creator>
  <cp:lastModifiedBy>松枝 勇樹(rr0163fx)</cp:lastModifiedBy>
  <cp:revision>1</cp:revision>
  <dcterms:created xsi:type="dcterms:W3CDTF">2024-03-20T13:06:38Z</dcterms:created>
  <dcterms:modified xsi:type="dcterms:W3CDTF">2024-03-20T13:08:05Z</dcterms:modified>
</cp:coreProperties>
</file>